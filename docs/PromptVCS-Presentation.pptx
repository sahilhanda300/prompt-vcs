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595360" y="0"/>
            <a:ext cx="3593592" cy="6858000"/>
          </a:xfrm>
          <a:prstGeom prst="rect">
            <a:avLst/>
          </a:prstGeom>
          <a:solidFill>
            <a:srgbClr val="13315C"/>
          </a:solidFill>
          <a:ln w="12700">
            <a:solidFill>
              <a:srgbClr val="13315C"/>
            </a:solidFill>
            <a:prstDash val="solid"/>
          </a:ln>
        </p:spPr>
      </p:sp>
      <p:sp>
        <p:nvSpPr>
          <p:cNvPr id="3" name="Text 1"/>
          <p:cNvSpPr txBox="1"/>
          <p:nvPr/>
        </p:nvSpPr>
        <p:spPr>
          <a:xfrm>
            <a:off x="731520" y="1828800"/>
            <a:ext cx="10515600" cy="118872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PromptVCS</a:t>
            </a:r>
            <a:endParaRPr lang="en-US" sz="6600" dirty="0"/>
          </a:p>
        </p:txBody>
      </p:sp>
      <p:sp>
        <p:nvSpPr>
          <p:cNvPr id="4" name="Text 2"/>
          <p:cNvSpPr txBox="1"/>
          <p:nvPr/>
        </p:nvSpPr>
        <p:spPr>
          <a:xfrm>
            <a:off x="731520" y="3108960"/>
            <a:ext cx="6949440" cy="1463040"/>
          </a:xfrm>
          <a:prstGeom prst="rect">
            <a:avLst/>
          </a:prstGeom>
          <a:noFill/>
          <a:ln/>
        </p:spPr>
        <p:txBody>
          <a:bodyPr wrap="square" lIns="0" tIns="0" rIns="0" bIns="0" rtlCol="0" anchor="ctr"/>
          <a:lstStyle/>
          <a:p>
            <a:pPr indent="0" marL="0">
              <a:buNone/>
            </a:pPr>
            <a:r>
              <a:rPr lang="en-US" sz="2200" dirty="0">
                <a:solidFill>
                  <a:srgbClr val="CBD5E1"/>
                </a:solidFill>
                <a:latin typeface="Calibri" pitchFamily="34" charset="0"/>
                <a:ea typeface="Calibri" pitchFamily="34" charset="-122"/>
                <a:cs typeface="Calibri" pitchFamily="34" charset="-120"/>
              </a:rPr>
              <a:t>Version control for prompts, with an automatic DEV → QA → PROD pipeline that publishes a live site or app on every promotion.</a:t>
            </a:r>
            <a:endParaRPr lang="en-US" sz="2200" dirty="0"/>
          </a:p>
        </p:txBody>
      </p:sp>
      <p:sp>
        <p:nvSpPr>
          <p:cNvPr id="5" name="Shape 3"/>
          <p:cNvSpPr/>
          <p:nvPr/>
        </p:nvSpPr>
        <p:spPr>
          <a:xfrm>
            <a:off x="731520" y="4846320"/>
            <a:ext cx="914400" cy="914400"/>
          </a:xfrm>
          <a:prstGeom prst="ellipse">
            <a:avLst/>
          </a:prstGeom>
          <a:solidFill>
            <a:srgbClr val="0891B2"/>
          </a:solidFill>
          <a:ln w="12700">
            <a:solidFill>
              <a:srgbClr val="0891B2"/>
            </a:solidFill>
            <a:prstDash val="solid"/>
          </a:ln>
        </p:spPr>
      </p:sp>
      <p:sp>
        <p:nvSpPr>
          <p:cNvPr id="6" name="Text 4"/>
          <p:cNvSpPr txBox="1"/>
          <p:nvPr/>
        </p:nvSpPr>
        <p:spPr>
          <a:xfrm>
            <a:off x="731520" y="4846320"/>
            <a:ext cx="91440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DEV</a:t>
            </a:r>
            <a:endParaRPr lang="en-US" sz="1800" dirty="0"/>
          </a:p>
        </p:txBody>
      </p:sp>
      <p:sp>
        <p:nvSpPr>
          <p:cNvPr id="7" name="Text 5"/>
          <p:cNvSpPr txBox="1"/>
          <p:nvPr/>
        </p:nvSpPr>
        <p:spPr>
          <a:xfrm>
            <a:off x="1645920" y="4937760"/>
            <a:ext cx="457200" cy="731520"/>
          </a:xfrm>
          <a:prstGeom prst="rect">
            <a:avLst/>
          </a:prstGeom>
          <a:noFill/>
          <a:ln/>
        </p:spPr>
        <p:txBody>
          <a:bodyPr wrap="square" lIns="0" tIns="0" rIns="0" bIns="0" rtlCol="0" anchor="ctr"/>
          <a:lstStyle/>
          <a:p>
            <a:pPr algn="ctr" indent="0" marL="0">
              <a:buNone/>
            </a:pPr>
            <a:r>
              <a:rPr lang="en-US" sz="2800" dirty="0">
                <a:solidFill>
                  <a:srgbClr val="CBD5E1"/>
                </a:solidFill>
              </a:rPr>
              <a:t>→</a:t>
            </a:r>
            <a:endParaRPr lang="en-US" sz="2800" dirty="0"/>
          </a:p>
        </p:txBody>
      </p:sp>
      <p:sp>
        <p:nvSpPr>
          <p:cNvPr id="8" name="Shape 6"/>
          <p:cNvSpPr/>
          <p:nvPr/>
        </p:nvSpPr>
        <p:spPr>
          <a:xfrm>
            <a:off x="2103120" y="4846320"/>
            <a:ext cx="914400" cy="914400"/>
          </a:xfrm>
          <a:prstGeom prst="ellipse">
            <a:avLst/>
          </a:prstGeom>
          <a:solidFill>
            <a:srgbClr val="F59E0B"/>
          </a:solidFill>
          <a:ln w="12700">
            <a:solidFill>
              <a:srgbClr val="F59E0B"/>
            </a:solidFill>
            <a:prstDash val="solid"/>
          </a:ln>
        </p:spPr>
      </p:sp>
      <p:sp>
        <p:nvSpPr>
          <p:cNvPr id="9" name="Text 7"/>
          <p:cNvSpPr txBox="1"/>
          <p:nvPr/>
        </p:nvSpPr>
        <p:spPr>
          <a:xfrm>
            <a:off x="2103120" y="4846320"/>
            <a:ext cx="91440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a:t>
            </a:r>
            <a:endParaRPr lang="en-US" sz="1800" dirty="0"/>
          </a:p>
        </p:txBody>
      </p:sp>
      <p:sp>
        <p:nvSpPr>
          <p:cNvPr id="10" name="Text 8"/>
          <p:cNvSpPr txBox="1"/>
          <p:nvPr/>
        </p:nvSpPr>
        <p:spPr>
          <a:xfrm>
            <a:off x="3017520" y="4937760"/>
            <a:ext cx="457200" cy="731520"/>
          </a:xfrm>
          <a:prstGeom prst="rect">
            <a:avLst/>
          </a:prstGeom>
          <a:noFill/>
          <a:ln/>
        </p:spPr>
        <p:txBody>
          <a:bodyPr wrap="square" lIns="0" tIns="0" rIns="0" bIns="0" rtlCol="0" anchor="ctr"/>
          <a:lstStyle/>
          <a:p>
            <a:pPr algn="ctr" indent="0" marL="0">
              <a:buNone/>
            </a:pPr>
            <a:r>
              <a:rPr lang="en-US" sz="2800" dirty="0">
                <a:solidFill>
                  <a:srgbClr val="CBD5E1"/>
                </a:solidFill>
              </a:rPr>
              <a:t>→</a:t>
            </a:r>
            <a:endParaRPr lang="en-US" sz="2800" dirty="0"/>
          </a:p>
        </p:txBody>
      </p:sp>
      <p:sp>
        <p:nvSpPr>
          <p:cNvPr id="11" name="Shape 9"/>
          <p:cNvSpPr/>
          <p:nvPr/>
        </p:nvSpPr>
        <p:spPr>
          <a:xfrm>
            <a:off x="3474720" y="4846320"/>
            <a:ext cx="914400" cy="914400"/>
          </a:xfrm>
          <a:prstGeom prst="ellipse">
            <a:avLst/>
          </a:prstGeom>
          <a:solidFill>
            <a:srgbClr val="059669"/>
          </a:solidFill>
          <a:ln w="12700">
            <a:solidFill>
              <a:srgbClr val="059669"/>
            </a:solidFill>
            <a:prstDash val="solid"/>
          </a:ln>
        </p:spPr>
      </p:sp>
      <p:sp>
        <p:nvSpPr>
          <p:cNvPr id="12" name="Text 10"/>
          <p:cNvSpPr txBox="1"/>
          <p:nvPr/>
        </p:nvSpPr>
        <p:spPr>
          <a:xfrm>
            <a:off x="3474720" y="4846320"/>
            <a:ext cx="91440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PROD</a:t>
            </a:r>
            <a:endParaRPr lang="en-US" sz="1800" dirty="0"/>
          </a:p>
        </p:txBody>
      </p:sp>
      <p:sp>
        <p:nvSpPr>
          <p:cNvPr id="13" name="Text 11"/>
          <p:cNvSpPr txBox="1"/>
          <p:nvPr/>
        </p:nvSpPr>
        <p:spPr>
          <a:xfrm>
            <a:off x="731520" y="6126480"/>
            <a:ext cx="73152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Project presentation  |  Sahil Handa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The problem and the idea</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2</a:t>
            </a:r>
            <a:endParaRPr lang="en-US" sz="1000" dirty="0"/>
          </a:p>
        </p:txBody>
      </p:sp>
      <p:sp>
        <p:nvSpPr>
          <p:cNvPr id="4" name="Shape 2"/>
          <p:cNvSpPr/>
          <p:nvPr/>
        </p:nvSpPr>
        <p:spPr>
          <a:xfrm>
            <a:off x="548640" y="1463040"/>
            <a:ext cx="5394960" cy="4480560"/>
          </a:xfrm>
          <a:prstGeom prst="roundRect">
            <a:avLst>
              <a:gd name="adj" fmla="val 2449"/>
            </a:avLst>
          </a:prstGeom>
          <a:solidFill>
            <a:srgbClr val="F1F5F9"/>
          </a:solidFill>
          <a:ln w="12700">
            <a:solidFill>
              <a:srgbClr val="CBD5E1"/>
            </a:solidFill>
            <a:prstDash val="solid"/>
          </a:ln>
        </p:spPr>
      </p:sp>
      <p:sp>
        <p:nvSpPr>
          <p:cNvPr id="5" name="Text 3"/>
          <p:cNvSpPr txBox="1"/>
          <p:nvPr/>
        </p:nvSpPr>
        <p:spPr>
          <a:xfrm>
            <a:off x="822960" y="164592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The problem</a:t>
            </a:r>
            <a:endParaRPr lang="en-US" sz="2000" dirty="0"/>
          </a:p>
        </p:txBody>
      </p:sp>
      <p:sp>
        <p:nvSpPr>
          <p:cNvPr id="6" name="Text 4"/>
          <p:cNvSpPr txBox="1"/>
          <p:nvPr/>
        </p:nvSpPr>
        <p:spPr>
          <a:xfrm>
            <a:off x="822960" y="2148840"/>
            <a:ext cx="4846320" cy="36118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Prompts drive real products, yet they are edited ad hoc.</a:t>
            </a:r>
            <a:endParaRPr lang="en-US" sz="1500" dirty="0"/>
          </a:p>
          <a:p>
            <a:pPr indent="0" marL="0">
              <a:buNone/>
            </a:pP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No history of what changed or why</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No checks before a prompt goes live</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Rolling back a bad result means starting over</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Turning a prompt into a working page is manual work</a:t>
            </a:r>
            <a:endParaRPr lang="en-US" sz="1500" dirty="0"/>
          </a:p>
        </p:txBody>
      </p:sp>
      <p:sp>
        <p:nvSpPr>
          <p:cNvPr id="7" name="Shape 5"/>
          <p:cNvSpPr/>
          <p:nvPr/>
        </p:nvSpPr>
        <p:spPr>
          <a:xfrm>
            <a:off x="6263640" y="1463040"/>
            <a:ext cx="5394960" cy="4480560"/>
          </a:xfrm>
          <a:prstGeom prst="roundRect">
            <a:avLst>
              <a:gd name="adj" fmla="val 2449"/>
            </a:avLst>
          </a:prstGeom>
          <a:solidFill>
            <a:srgbClr val="0B2545"/>
          </a:solidFill>
          <a:ln w="12700">
            <a:solidFill>
              <a:srgbClr val="CBD5E1"/>
            </a:solidFill>
            <a:prstDash val="solid"/>
          </a:ln>
        </p:spPr>
      </p:sp>
      <p:sp>
        <p:nvSpPr>
          <p:cNvPr id="8" name="Text 6"/>
          <p:cNvSpPr txBox="1"/>
          <p:nvPr/>
        </p:nvSpPr>
        <p:spPr>
          <a:xfrm>
            <a:off x="6537960" y="164592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idea</a:t>
            </a:r>
            <a:endParaRPr lang="en-US" sz="2000" dirty="0"/>
          </a:p>
        </p:txBody>
      </p:sp>
      <p:sp>
        <p:nvSpPr>
          <p:cNvPr id="9" name="Text 7"/>
          <p:cNvSpPr txBox="1"/>
          <p:nvPr/>
        </p:nvSpPr>
        <p:spPr>
          <a:xfrm>
            <a:off x="6537960" y="2148840"/>
            <a:ext cx="4846320" cy="3611880"/>
          </a:xfrm>
          <a:prstGeom prst="rect">
            <a:avLst/>
          </a:prstGeom>
          <a:noFill/>
          <a:ln/>
        </p:spPr>
        <p:txBody>
          <a:bodyPr wrap="square" lIns="0" tIns="0" rIns="0" bIns="0" rtlCol="0" anchor="t"/>
          <a:lstStyle/>
          <a:p>
            <a:pPr indent="0" marL="0">
              <a:buNone/>
            </a:pPr>
            <a:r>
              <a:rPr lang="en-US" sz="1500" dirty="0">
                <a:solidFill>
                  <a:srgbClr val="DBEAFE"/>
                </a:solidFill>
                <a:latin typeface="Calibri" pitchFamily="34" charset="0"/>
                <a:ea typeface="Calibri" pitchFamily="34" charset="-122"/>
                <a:cs typeface="Calibri" pitchFamily="34" charset="-120"/>
              </a:rPr>
              <a:t>Submit a prompt once. The pipeline does the rest.</a:t>
            </a:r>
            <a:endParaRPr lang="en-US" sz="1500" dirty="0"/>
          </a:p>
          <a:p>
            <a:pPr indent="0" marL="0">
              <a:buNone/>
            </a:pP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Every submit or edit is a new, diffable version</a:t>
            </a: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DEV → QA → PROD runs automatically, with no manual gate</a:t>
            </a: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QA runs real checks, not a pass-through</a:t>
            </a: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Reaching PROD generates a live site or app, inferred from the prompt itself</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The automatic pipeline</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3</a:t>
            </a:r>
            <a:endParaRPr lang="en-US" sz="1000" dirty="0"/>
          </a:p>
        </p:txBody>
      </p:sp>
      <p:sp>
        <p:nvSpPr>
          <p:cNvPr id="4" name="Shape 2"/>
          <p:cNvSpPr/>
          <p:nvPr/>
        </p:nvSpPr>
        <p:spPr>
          <a:xfrm>
            <a:off x="548640" y="1645920"/>
            <a:ext cx="3383280" cy="2926080"/>
          </a:xfrm>
          <a:prstGeom prst="roundRect">
            <a:avLst>
              <a:gd name="adj" fmla="val 3750"/>
            </a:avLst>
          </a:prstGeom>
          <a:solidFill>
            <a:srgbClr val="F1F5F9"/>
          </a:solidFill>
          <a:ln w="12700">
            <a:solidFill>
              <a:srgbClr val="CBD5E1"/>
            </a:solidFill>
            <a:prstDash val="solid"/>
          </a:ln>
        </p:spPr>
      </p:sp>
      <p:sp>
        <p:nvSpPr>
          <p:cNvPr id="5" name="Shape 3"/>
          <p:cNvSpPr/>
          <p:nvPr/>
        </p:nvSpPr>
        <p:spPr>
          <a:xfrm>
            <a:off x="822960" y="1874520"/>
            <a:ext cx="731520" cy="731520"/>
          </a:xfrm>
          <a:prstGeom prst="ellipse">
            <a:avLst/>
          </a:prstGeom>
          <a:solidFill>
            <a:srgbClr val="64748B"/>
          </a:solidFill>
          <a:ln w="12700">
            <a:solidFill>
              <a:srgbClr val="64748B"/>
            </a:solidFill>
            <a:prstDash val="solid"/>
          </a:ln>
        </p:spPr>
      </p:sp>
      <p:sp>
        <p:nvSpPr>
          <p:cNvPr id="6" name="Text 4"/>
          <p:cNvSpPr txBox="1"/>
          <p:nvPr/>
        </p:nvSpPr>
        <p:spPr>
          <a:xfrm>
            <a:off x="822960" y="187452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737360" y="1874520"/>
            <a:ext cx="2011680" cy="7315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DEV</a:t>
            </a:r>
            <a:endParaRPr lang="en-US" sz="2800" dirty="0"/>
          </a:p>
        </p:txBody>
      </p:sp>
      <p:sp>
        <p:nvSpPr>
          <p:cNvPr id="8" name="Text 6"/>
          <p:cNvSpPr txBox="1"/>
          <p:nvPr/>
        </p:nvSpPr>
        <p:spPr>
          <a:xfrm>
            <a:off x="822960" y="2834640"/>
            <a:ext cx="2834640" cy="155448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Prompt saved as the next version. One number written to the store.</a:t>
            </a:r>
            <a:endParaRPr lang="en-US" sz="1600" dirty="0"/>
          </a:p>
        </p:txBody>
      </p:sp>
      <p:sp>
        <p:nvSpPr>
          <p:cNvPr id="9" name="Text 7"/>
          <p:cNvSpPr txBox="1"/>
          <p:nvPr/>
        </p:nvSpPr>
        <p:spPr>
          <a:xfrm>
            <a:off x="3931920" y="2651760"/>
            <a:ext cx="502920" cy="731520"/>
          </a:xfrm>
          <a:prstGeom prst="rect">
            <a:avLst/>
          </a:prstGeom>
          <a:noFill/>
          <a:ln/>
        </p:spPr>
        <p:txBody>
          <a:bodyPr wrap="square" lIns="0" tIns="0" rIns="0" bIns="0" rtlCol="0" anchor="ctr"/>
          <a:lstStyle/>
          <a:p>
            <a:pPr algn="ctr" indent="0" marL="0">
              <a:buNone/>
            </a:pPr>
            <a:r>
              <a:rPr lang="en-US" sz="3000" dirty="0">
                <a:solidFill>
                  <a:srgbClr val="64748B"/>
                </a:solidFill>
              </a:rPr>
              <a:t>→</a:t>
            </a:r>
            <a:endParaRPr lang="en-US" sz="3000" dirty="0"/>
          </a:p>
        </p:txBody>
      </p:sp>
      <p:sp>
        <p:nvSpPr>
          <p:cNvPr id="10" name="Shape 8"/>
          <p:cNvSpPr/>
          <p:nvPr/>
        </p:nvSpPr>
        <p:spPr>
          <a:xfrm>
            <a:off x="4434840" y="1645920"/>
            <a:ext cx="3383280" cy="2926080"/>
          </a:xfrm>
          <a:prstGeom prst="roundRect">
            <a:avLst>
              <a:gd name="adj" fmla="val 3750"/>
            </a:avLst>
          </a:prstGeom>
          <a:solidFill>
            <a:srgbClr val="F1F5F9"/>
          </a:solidFill>
          <a:ln w="12700">
            <a:solidFill>
              <a:srgbClr val="CBD5E1"/>
            </a:solidFill>
            <a:prstDash val="solid"/>
          </a:ln>
        </p:spPr>
      </p:sp>
      <p:sp>
        <p:nvSpPr>
          <p:cNvPr id="11" name="Shape 9"/>
          <p:cNvSpPr/>
          <p:nvPr/>
        </p:nvSpPr>
        <p:spPr>
          <a:xfrm>
            <a:off x="4709160" y="1874520"/>
            <a:ext cx="731520" cy="731520"/>
          </a:xfrm>
          <a:prstGeom prst="ellipse">
            <a:avLst/>
          </a:prstGeom>
          <a:solidFill>
            <a:srgbClr val="F59E0B"/>
          </a:solidFill>
          <a:ln w="12700">
            <a:solidFill>
              <a:srgbClr val="F59E0B"/>
            </a:solidFill>
            <a:prstDash val="solid"/>
          </a:ln>
        </p:spPr>
      </p:sp>
      <p:sp>
        <p:nvSpPr>
          <p:cNvPr id="12" name="Text 10"/>
          <p:cNvSpPr txBox="1"/>
          <p:nvPr/>
        </p:nvSpPr>
        <p:spPr>
          <a:xfrm>
            <a:off x="4709160" y="187452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623560" y="1874520"/>
            <a:ext cx="2011680" cy="7315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QA</a:t>
            </a:r>
            <a:endParaRPr lang="en-US" sz="2800" dirty="0"/>
          </a:p>
        </p:txBody>
      </p:sp>
      <p:sp>
        <p:nvSpPr>
          <p:cNvPr id="14" name="Text 12"/>
          <p:cNvSpPr txBox="1"/>
          <p:nvPr/>
        </p:nvSpPr>
        <p:spPr>
          <a:xfrm>
            <a:off x="4709160" y="2834640"/>
            <a:ext cx="2834640" cy="155448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Four unattended checks run against that version.</a:t>
            </a:r>
            <a:endParaRPr lang="en-US" sz="1600" dirty="0"/>
          </a:p>
        </p:txBody>
      </p:sp>
      <p:sp>
        <p:nvSpPr>
          <p:cNvPr id="15" name="Text 13"/>
          <p:cNvSpPr txBox="1"/>
          <p:nvPr/>
        </p:nvSpPr>
        <p:spPr>
          <a:xfrm>
            <a:off x="7818120" y="2651760"/>
            <a:ext cx="502920" cy="731520"/>
          </a:xfrm>
          <a:prstGeom prst="rect">
            <a:avLst/>
          </a:prstGeom>
          <a:noFill/>
          <a:ln/>
        </p:spPr>
        <p:txBody>
          <a:bodyPr wrap="square" lIns="0" tIns="0" rIns="0" bIns="0" rtlCol="0" anchor="ctr"/>
          <a:lstStyle/>
          <a:p>
            <a:pPr algn="ctr" indent="0" marL="0">
              <a:buNone/>
            </a:pPr>
            <a:r>
              <a:rPr lang="en-US" sz="3000" dirty="0">
                <a:solidFill>
                  <a:srgbClr val="64748B"/>
                </a:solidFill>
              </a:rPr>
              <a:t>→</a:t>
            </a:r>
            <a:endParaRPr lang="en-US" sz="3000" dirty="0"/>
          </a:p>
        </p:txBody>
      </p:sp>
      <p:sp>
        <p:nvSpPr>
          <p:cNvPr id="16" name="Shape 14"/>
          <p:cNvSpPr/>
          <p:nvPr/>
        </p:nvSpPr>
        <p:spPr>
          <a:xfrm>
            <a:off x="8321040" y="1645920"/>
            <a:ext cx="3383280" cy="2926080"/>
          </a:xfrm>
          <a:prstGeom prst="roundRect">
            <a:avLst>
              <a:gd name="adj" fmla="val 3750"/>
            </a:avLst>
          </a:prstGeom>
          <a:solidFill>
            <a:srgbClr val="F1F5F9"/>
          </a:solidFill>
          <a:ln w="12700">
            <a:solidFill>
              <a:srgbClr val="CBD5E1"/>
            </a:solidFill>
            <a:prstDash val="solid"/>
          </a:ln>
        </p:spPr>
      </p:sp>
      <p:sp>
        <p:nvSpPr>
          <p:cNvPr id="17" name="Shape 15"/>
          <p:cNvSpPr/>
          <p:nvPr/>
        </p:nvSpPr>
        <p:spPr>
          <a:xfrm>
            <a:off x="8595360" y="1874520"/>
            <a:ext cx="731520" cy="731520"/>
          </a:xfrm>
          <a:prstGeom prst="ellipse">
            <a:avLst/>
          </a:prstGeom>
          <a:solidFill>
            <a:srgbClr val="1D4ED8"/>
          </a:solidFill>
          <a:ln w="12700">
            <a:solidFill>
              <a:srgbClr val="1D4ED8"/>
            </a:solidFill>
            <a:prstDash val="solid"/>
          </a:ln>
        </p:spPr>
      </p:sp>
      <p:sp>
        <p:nvSpPr>
          <p:cNvPr id="18" name="Text 16"/>
          <p:cNvSpPr txBox="1"/>
          <p:nvPr/>
        </p:nvSpPr>
        <p:spPr>
          <a:xfrm>
            <a:off x="8595360" y="187452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9509760" y="1874520"/>
            <a:ext cx="2011680" cy="73152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PROD</a:t>
            </a:r>
            <a:endParaRPr lang="en-US" sz="2800" dirty="0"/>
          </a:p>
        </p:txBody>
      </p:sp>
      <p:sp>
        <p:nvSpPr>
          <p:cNvPr id="20" name="Text 18"/>
          <p:cNvSpPr txBox="1"/>
          <p:nvPr/>
        </p:nvSpPr>
        <p:spPr>
          <a:xfrm>
            <a:off x="8595360" y="2834640"/>
            <a:ext cx="2834640" cy="1554480"/>
          </a:xfrm>
          <a:prstGeom prst="rect">
            <a:avLst/>
          </a:prstGeom>
          <a:noFill/>
          <a:ln/>
        </p:spPr>
        <p:txBody>
          <a:bodyPr wrap="square" lIns="0" tIns="0" rIns="0" bIns="0" rtlCol="0" anchor="t"/>
          <a:lstStyle/>
          <a:p>
            <a:pPr indent="0" marL="0">
              <a:buNone/>
            </a:pPr>
            <a:r>
              <a:rPr lang="en-US" sz="1600" dirty="0">
                <a:solidFill>
                  <a:srgbClr val="334155"/>
                </a:solidFill>
                <a:latin typeface="Calibri" pitchFamily="34" charset="0"/>
                <a:ea typeface="Calibri" pitchFamily="34" charset="-122"/>
                <a:cs typeface="Calibri" pitchFamily="34" charset="-120"/>
              </a:rPr>
              <a:t>PROD pointer set. This triggers generation of the site or app.</a:t>
            </a:r>
            <a:endParaRPr lang="en-US" sz="1600" dirty="0"/>
          </a:p>
        </p:txBody>
      </p:sp>
      <p:sp>
        <p:nvSpPr>
          <p:cNvPr id="21" name="Text 19"/>
          <p:cNvSpPr txBox="1"/>
          <p:nvPr/>
        </p:nvSpPr>
        <p:spPr>
          <a:xfrm>
            <a:off x="548640" y="4937760"/>
            <a:ext cx="11064240" cy="1097280"/>
          </a:xfrm>
          <a:prstGeom prst="rect">
            <a:avLst/>
          </a:prstGeom>
          <a:noFill/>
          <a:ln/>
        </p:spPr>
        <p:txBody>
          <a:bodyPr wrap="square" lIns="0" tIns="0" rIns="0" bIns="0" rtlCol="0" anchor="ctr"/>
          <a:lstStyle/>
          <a:p>
            <a:pPr indent="0" marL="0">
              <a:buNone/>
            </a:pPr>
            <a:r>
              <a:rPr lang="en-US" sz="1800" dirty="0">
                <a:solidFill>
                  <a:srgbClr val="334155"/>
                </a:solidFill>
                <a:latin typeface="Calibri" pitchFamily="34" charset="0"/>
                <a:ea typeface="Calibri" pitchFamily="34" charset="-122"/>
                <a:cs typeface="Calibri" pitchFamily="34" charset="-120"/>
              </a:rPr>
              <a:t>Promotion moves nothing. The same version number becomes referenced from up to three fields (DEV, QA, PROD) on one record. If QA fails, the pipeline stops and nothing is published.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Walkthrough: creating a calculator</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4</a:t>
            </a:r>
            <a:endParaRPr lang="en-US" sz="1000" dirty="0"/>
          </a:p>
        </p:txBody>
      </p:sp>
      <p:sp>
        <p:nvSpPr>
          <p:cNvPr id="4" name="Shape 2"/>
          <p:cNvSpPr/>
          <p:nvPr/>
        </p:nvSpPr>
        <p:spPr>
          <a:xfrm>
            <a:off x="548640" y="1417320"/>
            <a:ext cx="685800" cy="685800"/>
          </a:xfrm>
          <a:prstGeom prst="ellipse">
            <a:avLst/>
          </a:prstGeom>
          <a:solidFill>
            <a:srgbClr val="1D4ED8"/>
          </a:solidFill>
          <a:ln w="12700">
            <a:solidFill>
              <a:srgbClr val="1D4ED8"/>
            </a:solidFill>
            <a:prstDash val="solid"/>
          </a:ln>
        </p:spPr>
      </p:sp>
      <p:sp>
        <p:nvSpPr>
          <p:cNvPr id="5" name="Text 3"/>
          <p:cNvSpPr txBox="1"/>
          <p:nvPr/>
        </p:nvSpPr>
        <p:spPr>
          <a:xfrm>
            <a:off x="548640" y="141732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463040" y="1417320"/>
            <a:ext cx="1828800" cy="6858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Submit</a:t>
            </a:r>
            <a:endParaRPr lang="en-US" sz="2200" dirty="0"/>
          </a:p>
        </p:txBody>
      </p:sp>
      <p:sp>
        <p:nvSpPr>
          <p:cNvPr id="7" name="Text 5"/>
          <p:cNvSpPr txBox="1"/>
          <p:nvPr/>
        </p:nvSpPr>
        <p:spPr>
          <a:xfrm>
            <a:off x="3383280" y="1417320"/>
            <a:ext cx="8229600" cy="685800"/>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prompt-vcs create calc --content "A calculator" saves prompt version 1 and sets DEV = 1.</a:t>
            </a:r>
            <a:endParaRPr lang="en-US" sz="1600" dirty="0"/>
          </a:p>
        </p:txBody>
      </p:sp>
      <p:sp>
        <p:nvSpPr>
          <p:cNvPr id="8" name="Shape 6"/>
          <p:cNvSpPr/>
          <p:nvPr/>
        </p:nvSpPr>
        <p:spPr>
          <a:xfrm>
            <a:off x="548640" y="2377440"/>
            <a:ext cx="685800" cy="685800"/>
          </a:xfrm>
          <a:prstGeom prst="ellipse">
            <a:avLst/>
          </a:prstGeom>
          <a:solidFill>
            <a:srgbClr val="1D4ED8"/>
          </a:solidFill>
          <a:ln w="12700">
            <a:solidFill>
              <a:srgbClr val="1D4ED8"/>
            </a:solidFill>
            <a:prstDash val="solid"/>
          </a:ln>
        </p:spPr>
      </p:sp>
      <p:sp>
        <p:nvSpPr>
          <p:cNvPr id="9" name="Text 7"/>
          <p:cNvSpPr txBox="1"/>
          <p:nvPr/>
        </p:nvSpPr>
        <p:spPr>
          <a:xfrm>
            <a:off x="548640" y="237744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463040" y="2377440"/>
            <a:ext cx="1828800" cy="6858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Screen</a:t>
            </a:r>
            <a:endParaRPr lang="en-US" sz="2200" dirty="0"/>
          </a:p>
        </p:txBody>
      </p:sp>
      <p:sp>
        <p:nvSpPr>
          <p:cNvPr id="11" name="Text 9"/>
          <p:cNvSpPr txBox="1"/>
          <p:nvPr/>
        </p:nvSpPr>
        <p:spPr>
          <a:xfrm>
            <a:off x="3383280" y="2377440"/>
            <a:ext cx="8229600" cy="685800"/>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Validation runs locally, then one Claude Code call checks safety and feasibility. QA = 1.</a:t>
            </a:r>
            <a:endParaRPr lang="en-US" sz="1600" dirty="0"/>
          </a:p>
        </p:txBody>
      </p:sp>
      <p:sp>
        <p:nvSpPr>
          <p:cNvPr id="12" name="Shape 10"/>
          <p:cNvSpPr/>
          <p:nvPr/>
        </p:nvSpPr>
        <p:spPr>
          <a:xfrm>
            <a:off x="548640" y="3337560"/>
            <a:ext cx="685800" cy="685800"/>
          </a:xfrm>
          <a:prstGeom prst="ellipse">
            <a:avLst/>
          </a:prstGeom>
          <a:solidFill>
            <a:srgbClr val="1D4ED8"/>
          </a:solidFill>
          <a:ln w="12700">
            <a:solidFill>
              <a:srgbClr val="1D4ED8"/>
            </a:solidFill>
            <a:prstDash val="solid"/>
          </a:ln>
        </p:spPr>
      </p:sp>
      <p:sp>
        <p:nvSpPr>
          <p:cNvPr id="13" name="Text 11"/>
          <p:cNvSpPr txBox="1"/>
          <p:nvPr/>
        </p:nvSpPr>
        <p:spPr>
          <a:xfrm>
            <a:off x="548640" y="333756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463040" y="3337560"/>
            <a:ext cx="1828800" cy="6858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Generate</a:t>
            </a:r>
            <a:endParaRPr lang="en-US" sz="2200" dirty="0"/>
          </a:p>
        </p:txBody>
      </p:sp>
      <p:sp>
        <p:nvSpPr>
          <p:cNvPr id="15" name="Text 13"/>
          <p:cNvSpPr txBox="1"/>
          <p:nvPr/>
        </p:nvSpPr>
        <p:spPr>
          <a:xfrm>
            <a:off x="3383280" y="3337560"/>
            <a:ext cx="8229600" cy="685800"/>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same call returns the HTML. The server sanitizes it, forces UTF-8 and writes build v1. PROD = 1.</a:t>
            </a:r>
            <a:endParaRPr lang="en-US" sz="1600" dirty="0"/>
          </a:p>
        </p:txBody>
      </p:sp>
      <p:sp>
        <p:nvSpPr>
          <p:cNvPr id="16" name="Shape 14"/>
          <p:cNvSpPr/>
          <p:nvPr/>
        </p:nvSpPr>
        <p:spPr>
          <a:xfrm>
            <a:off x="548640" y="4297680"/>
            <a:ext cx="685800" cy="685800"/>
          </a:xfrm>
          <a:prstGeom prst="ellipse">
            <a:avLst/>
          </a:prstGeom>
          <a:solidFill>
            <a:srgbClr val="1D4ED8"/>
          </a:solidFill>
          <a:ln w="12700">
            <a:solidFill>
              <a:srgbClr val="1D4ED8"/>
            </a:solidFill>
            <a:prstDash val="solid"/>
          </a:ln>
        </p:spPr>
      </p:sp>
      <p:sp>
        <p:nvSpPr>
          <p:cNvPr id="17" name="Text 15"/>
          <p:cNvSpPr txBox="1"/>
          <p:nvPr/>
        </p:nvSpPr>
        <p:spPr>
          <a:xfrm>
            <a:off x="548640" y="429768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463040" y="4297680"/>
            <a:ext cx="1828800" cy="6858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Publish</a:t>
            </a:r>
            <a:endParaRPr lang="en-US" sz="2200" dirty="0"/>
          </a:p>
        </p:txBody>
      </p:sp>
      <p:sp>
        <p:nvSpPr>
          <p:cNvPr id="19" name="Text 17"/>
          <p:cNvSpPr txBox="1"/>
          <p:nvPr/>
        </p:nvSpPr>
        <p:spPr>
          <a:xfrm>
            <a:off x="3383280" y="4297680"/>
            <a:ext cx="8229600" cy="685800"/>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CLI prints a link to /site/calc/v1/. The web dashboard shows Completed, 100%.</a:t>
            </a:r>
            <a:endParaRPr lang="en-US" sz="1600" dirty="0"/>
          </a:p>
        </p:txBody>
      </p:sp>
      <p:sp>
        <p:nvSpPr>
          <p:cNvPr id="20" name="Shape 18"/>
          <p:cNvSpPr/>
          <p:nvPr/>
        </p:nvSpPr>
        <p:spPr>
          <a:xfrm>
            <a:off x="548640" y="5257800"/>
            <a:ext cx="685800" cy="685800"/>
          </a:xfrm>
          <a:prstGeom prst="ellipse">
            <a:avLst/>
          </a:prstGeom>
          <a:solidFill>
            <a:srgbClr val="F59E0B"/>
          </a:solidFill>
          <a:ln w="12700">
            <a:solidFill>
              <a:srgbClr val="F59E0B"/>
            </a:solidFill>
            <a:prstDash val="solid"/>
          </a:ln>
        </p:spPr>
      </p:sp>
      <p:sp>
        <p:nvSpPr>
          <p:cNvPr id="21" name="Text 19"/>
          <p:cNvSpPr txBox="1"/>
          <p:nvPr/>
        </p:nvSpPr>
        <p:spPr>
          <a:xfrm>
            <a:off x="548640" y="525780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txBox="1"/>
          <p:nvPr/>
        </p:nvSpPr>
        <p:spPr>
          <a:xfrm>
            <a:off x="1463040" y="5257800"/>
            <a:ext cx="1828800" cy="6858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Edit</a:t>
            </a:r>
            <a:endParaRPr lang="en-US" sz="2200" dirty="0"/>
          </a:p>
        </p:txBody>
      </p:sp>
      <p:sp>
        <p:nvSpPr>
          <p:cNvPr id="23" name="Text 21"/>
          <p:cNvSpPr txBox="1"/>
          <p:nvPr/>
        </p:nvSpPr>
        <p:spPr>
          <a:xfrm>
            <a:off x="3383280" y="5257800"/>
            <a:ext cx="8229600" cy="685800"/>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An edit sends only the line diff plus the existing page. Claude Code updates it as build v2.</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QA: four real checks, no manual gate</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5</a:t>
            </a:r>
            <a:endParaRPr lang="en-US" sz="1000" dirty="0"/>
          </a:p>
        </p:txBody>
      </p:sp>
      <p:sp>
        <p:nvSpPr>
          <p:cNvPr id="4" name="Shape 2"/>
          <p:cNvSpPr/>
          <p:nvPr/>
        </p:nvSpPr>
        <p:spPr>
          <a:xfrm>
            <a:off x="548640" y="1463040"/>
            <a:ext cx="5349240" cy="2103120"/>
          </a:xfrm>
          <a:prstGeom prst="roundRect">
            <a:avLst>
              <a:gd name="adj" fmla="val 5217"/>
            </a:avLst>
          </a:prstGeom>
          <a:solidFill>
            <a:srgbClr val="F1F5F9"/>
          </a:solidFill>
          <a:ln w="12700">
            <a:solidFill>
              <a:srgbClr val="CBD5E1"/>
            </a:solidFill>
            <a:prstDash val="solid"/>
          </a:ln>
        </p:spPr>
      </p:sp>
      <p:sp>
        <p:nvSpPr>
          <p:cNvPr id="5" name="Text 3"/>
          <p:cNvSpPr txBox="1"/>
          <p:nvPr/>
        </p:nvSpPr>
        <p:spPr>
          <a:xfrm>
            <a:off x="822960" y="164592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1  Validation</a:t>
            </a:r>
            <a:endParaRPr lang="en-US" sz="2000" dirty="0"/>
          </a:p>
        </p:txBody>
      </p:sp>
      <p:sp>
        <p:nvSpPr>
          <p:cNvPr id="6" name="Text 4"/>
          <p:cNvSpPr txBox="1"/>
          <p:nvPr/>
        </p:nvSpPr>
        <p:spPr>
          <a:xfrm>
            <a:off x="822960" y="214884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Local only, no network call. Rejects empty or malformed prompts and enforces length limits.</a:t>
            </a:r>
            <a:endParaRPr lang="en-US" sz="1500" dirty="0"/>
          </a:p>
        </p:txBody>
      </p:sp>
      <p:sp>
        <p:nvSpPr>
          <p:cNvPr id="7" name="Shape 5"/>
          <p:cNvSpPr/>
          <p:nvPr/>
        </p:nvSpPr>
        <p:spPr>
          <a:xfrm>
            <a:off x="6263640" y="1463040"/>
            <a:ext cx="5349240" cy="2103120"/>
          </a:xfrm>
          <a:prstGeom prst="roundRect">
            <a:avLst>
              <a:gd name="adj" fmla="val 5217"/>
            </a:avLst>
          </a:prstGeom>
          <a:solidFill>
            <a:srgbClr val="F1F5F9"/>
          </a:solidFill>
          <a:ln w="12700">
            <a:solidFill>
              <a:srgbClr val="CBD5E1"/>
            </a:solidFill>
            <a:prstDash val="solid"/>
          </a:ln>
        </p:spPr>
      </p:sp>
      <p:sp>
        <p:nvSpPr>
          <p:cNvPr id="8" name="Text 6"/>
          <p:cNvSpPr txBox="1"/>
          <p:nvPr/>
        </p:nvSpPr>
        <p:spPr>
          <a:xfrm>
            <a:off x="6537960" y="164592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2  Content safety</a:t>
            </a:r>
            <a:endParaRPr lang="en-US" sz="2000" dirty="0"/>
          </a:p>
        </p:txBody>
      </p:sp>
      <p:sp>
        <p:nvSpPr>
          <p:cNvPr id="9" name="Text 7"/>
          <p:cNvSpPr txBox="1"/>
          <p:nvPr/>
        </p:nvSpPr>
        <p:spPr>
          <a:xfrm>
            <a:off x="6537960" y="214884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Screens the prompt before anything is published from it.</a:t>
            </a:r>
            <a:endParaRPr lang="en-US" sz="1500" dirty="0"/>
          </a:p>
        </p:txBody>
      </p:sp>
      <p:sp>
        <p:nvSpPr>
          <p:cNvPr id="10" name="Shape 8"/>
          <p:cNvSpPr/>
          <p:nvPr/>
        </p:nvSpPr>
        <p:spPr>
          <a:xfrm>
            <a:off x="548640" y="3794760"/>
            <a:ext cx="5349240" cy="2103120"/>
          </a:xfrm>
          <a:prstGeom prst="roundRect">
            <a:avLst>
              <a:gd name="adj" fmla="val 5217"/>
            </a:avLst>
          </a:prstGeom>
          <a:solidFill>
            <a:srgbClr val="F1F5F9"/>
          </a:solidFill>
          <a:ln w="12700">
            <a:solidFill>
              <a:srgbClr val="CBD5E1"/>
            </a:solidFill>
            <a:prstDash val="solid"/>
          </a:ln>
        </p:spPr>
      </p:sp>
      <p:sp>
        <p:nvSpPr>
          <p:cNvPr id="11" name="Text 9"/>
          <p:cNvSpPr txBox="1"/>
          <p:nvPr/>
        </p:nvSpPr>
        <p:spPr>
          <a:xfrm>
            <a:off x="822960" y="397764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3  Trial feasibility</a:t>
            </a:r>
            <a:endParaRPr lang="en-US" sz="2000" dirty="0"/>
          </a:p>
        </p:txBody>
      </p:sp>
      <p:sp>
        <p:nvSpPr>
          <p:cNvPr id="12" name="Text 10"/>
          <p:cNvSpPr txBox="1"/>
          <p:nvPr/>
        </p:nvSpPr>
        <p:spPr>
          <a:xfrm>
            <a:off x="822960" y="448056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Confirms the prompt is buildable as one self-contained page. Vague prompts are expected and fine.</a:t>
            </a:r>
            <a:endParaRPr lang="en-US" sz="1500" dirty="0"/>
          </a:p>
        </p:txBody>
      </p:sp>
      <p:sp>
        <p:nvSpPr>
          <p:cNvPr id="13" name="Shape 11"/>
          <p:cNvSpPr/>
          <p:nvPr/>
        </p:nvSpPr>
        <p:spPr>
          <a:xfrm>
            <a:off x="6263640" y="3794760"/>
            <a:ext cx="5349240" cy="2103120"/>
          </a:xfrm>
          <a:prstGeom prst="roundRect">
            <a:avLst>
              <a:gd name="adj" fmla="val 5217"/>
            </a:avLst>
          </a:prstGeom>
          <a:solidFill>
            <a:srgbClr val="F1F5F9"/>
          </a:solidFill>
          <a:ln w="12700">
            <a:solidFill>
              <a:srgbClr val="CBD5E1"/>
            </a:solidFill>
            <a:prstDash val="solid"/>
          </a:ln>
        </p:spPr>
      </p:sp>
      <p:sp>
        <p:nvSpPr>
          <p:cNvPr id="14" name="Text 12"/>
          <p:cNvSpPr txBox="1"/>
          <p:nvPr/>
        </p:nvSpPr>
        <p:spPr>
          <a:xfrm>
            <a:off x="6537960" y="397764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4  Checkpoint</a:t>
            </a:r>
            <a:endParaRPr lang="en-US" sz="2000" dirty="0"/>
          </a:p>
        </p:txBody>
      </p:sp>
      <p:sp>
        <p:nvSpPr>
          <p:cNvPr id="15" name="Text 13"/>
          <p:cNvSpPr txBox="1"/>
          <p:nvPr/>
        </p:nvSpPr>
        <p:spPr>
          <a:xfrm>
            <a:off x="6537960" y="448056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Records the version and pass/fail result in the store, whatever the outcome.</a:t>
            </a:r>
            <a:endParaRPr lang="en-US" sz="1500" dirty="0"/>
          </a:p>
        </p:txBody>
      </p:sp>
      <p:sp>
        <p:nvSpPr>
          <p:cNvPr id="16" name="Text 14"/>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Checks 2 and 3 share one Claude Code call to cut latency, but are still judged and recorded independently.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MCP tool surface</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474720"/>
                <a:gridCol w="7589520"/>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Tool</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it does</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r>
              <a:tr h="640080">
                <a:tc>
                  <a:txBody>
                    <a:bodyPr/>
                    <a:lstStyle/>
                    <a:p>
                      <a:pPr indent="0" marL="0">
                        <a:buNone/>
                      </a:pPr>
                      <a:r>
                        <a:rPr lang="en-US" sz="1600" b="1" dirty="0">
                          <a:solidFill>
                            <a:srgbClr val="334155"/>
                          </a:solidFill>
                          <a:latin typeface="Calibri" pitchFamily="34" charset="0"/>
                          <a:ea typeface="Calibri" pitchFamily="34" charset="-122"/>
                          <a:cs typeface="Calibri" pitchFamily="34" charset="-120"/>
                        </a:rPr>
                        <a:t>login / register / logout</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Accounts and sessions. First registered user becomes admin.</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640080">
                <a:tc>
                  <a:txBody>
                    <a:bodyPr/>
                    <a:lstStyle/>
                    <a:p>
                      <a:pPr indent="0" marL="0">
                        <a:buNone/>
                      </a:pPr>
                      <a:r>
                        <a:rPr lang="en-US" sz="1600" b="1" dirty="0">
                          <a:solidFill>
                            <a:srgbClr val="334155"/>
                          </a:solidFill>
                          <a:latin typeface="Calibri" pitchFamily="34" charset="0"/>
                          <a:ea typeface="Calibri" pitchFamily="34" charset="-122"/>
                          <a:cs typeface="Calibri" pitchFamily="34" charset="-120"/>
                        </a:rPr>
                        <a:t>create</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Submit a new prompt and run the full pipeline.</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600" b="1" dirty="0">
                          <a:solidFill>
                            <a:srgbClr val="334155"/>
                          </a:solidFill>
                          <a:latin typeface="Calibri" pitchFamily="34" charset="0"/>
                          <a:ea typeface="Calibri" pitchFamily="34" charset="-122"/>
                          <a:cs typeface="Calibri" pitchFamily="34" charset="-120"/>
                        </a:rPr>
                        <a:t>edit</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New prompt version; restarts the pipeline and updates the build.</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640080">
                <a:tc>
                  <a:txBody>
                    <a:bodyPr/>
                    <a:lstStyle/>
                    <a:p>
                      <a:pPr indent="0" marL="0">
                        <a:buNone/>
                      </a:pPr>
                      <a:r>
                        <a:rPr lang="en-US" sz="1600" b="1" dirty="0">
                          <a:solidFill>
                            <a:srgbClr val="334155"/>
                          </a:solidFill>
                          <a:latin typeface="Calibri" pitchFamily="34" charset="0"/>
                          <a:ea typeface="Calibri" pitchFamily="34" charset="-122"/>
                          <a:cs typeface="Calibri" pitchFamily="34" charset="-120"/>
                        </a:rPr>
                        <a:t>list / show</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All prompts with status, or one prompt's QA history and builds.</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600" b="1" dirty="0">
                          <a:solidFill>
                            <a:srgbClr val="334155"/>
                          </a:solidFill>
                          <a:latin typeface="Calibri" pitchFamily="34" charset="0"/>
                          <a:ea typeface="Calibri" pitchFamily="34" charset="-122"/>
                          <a:cs typeface="Calibri" pitchFamily="34" charset="-120"/>
                        </a:rPr>
                        <a:t>diff</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Line-level comparison between two prompt versions.</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640080">
                <a:tc>
                  <a:txBody>
                    <a:bodyPr/>
                    <a:lstStyle/>
                    <a:p>
                      <a:pPr indent="0" marL="0">
                        <a:buNone/>
                      </a:pPr>
                      <a:r>
                        <a:rPr lang="en-US" sz="1600" b="1" dirty="0">
                          <a:solidFill>
                            <a:srgbClr val="334155"/>
                          </a:solidFill>
                          <a:latin typeface="Calibri" pitchFamily="34" charset="0"/>
                          <a:ea typeface="Calibri" pitchFamily="34" charset="-122"/>
                          <a:cs typeface="Calibri" pitchFamily="34" charset="-120"/>
                        </a:rPr>
                        <a:t>reset</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Admin only. Wipes the store and generated sites.</a:t>
                      </a:r>
                      <a:endParaRPr lang="en-US" sz="16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 tool returns the same ok/error envelope, and the CLI and web app share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Two independent version histories</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7</a:t>
            </a:r>
            <a:endParaRPr lang="en-US" sz="1000" dirty="0"/>
          </a:p>
        </p:txBody>
      </p:sp>
      <p:sp>
        <p:nvSpPr>
          <p:cNvPr id="4" name="Shape 2"/>
          <p:cNvSpPr/>
          <p:nvPr/>
        </p:nvSpPr>
        <p:spPr>
          <a:xfrm>
            <a:off x="548640" y="1463040"/>
            <a:ext cx="5394960" cy="3291840"/>
          </a:xfrm>
          <a:prstGeom prst="roundRect">
            <a:avLst>
              <a:gd name="adj" fmla="val 3333"/>
            </a:avLst>
          </a:prstGeom>
          <a:solidFill>
            <a:srgbClr val="F1F5F9"/>
          </a:solidFill>
          <a:ln w="12700">
            <a:solidFill>
              <a:srgbClr val="CBD5E1"/>
            </a:solidFill>
            <a:prstDash val="solid"/>
          </a:ln>
        </p:spPr>
      </p:sp>
      <p:sp>
        <p:nvSpPr>
          <p:cNvPr id="5" name="Text 3"/>
          <p:cNvSpPr txBox="1"/>
          <p:nvPr/>
        </p:nvSpPr>
        <p:spPr>
          <a:xfrm>
            <a:off x="822960" y="164592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Prompt versions</a:t>
            </a:r>
            <a:endParaRPr lang="en-US" sz="2000" dirty="0"/>
          </a:p>
        </p:txBody>
      </p:sp>
      <p:sp>
        <p:nvSpPr>
          <p:cNvPr id="6" name="Text 4"/>
          <p:cNvSpPr txBox="1"/>
          <p:nvPr/>
        </p:nvSpPr>
        <p:spPr>
          <a:xfrm>
            <a:off x="822960" y="2148840"/>
            <a:ext cx="4846320" cy="24231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The prompt text, versioned on every submit or edit.</a:t>
            </a:r>
            <a:endParaRPr lang="en-US" sz="1500" dirty="0"/>
          </a:p>
          <a:p>
            <a:pPr indent="0" marL="0">
              <a:buNone/>
            </a:pP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Environment pointers: DEV, QA, PROD</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A new edit restarts the pipeline from DEV</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Line-level diff between any two versions</a:t>
            </a:r>
            <a:endParaRPr lang="en-US" sz="1500" dirty="0"/>
          </a:p>
        </p:txBody>
      </p:sp>
      <p:sp>
        <p:nvSpPr>
          <p:cNvPr id="7" name="Shape 5"/>
          <p:cNvSpPr/>
          <p:nvPr/>
        </p:nvSpPr>
        <p:spPr>
          <a:xfrm>
            <a:off x="6263640" y="1463040"/>
            <a:ext cx="5394960" cy="3291840"/>
          </a:xfrm>
          <a:prstGeom prst="roundRect">
            <a:avLst>
              <a:gd name="adj" fmla="val 3333"/>
            </a:avLst>
          </a:prstGeom>
          <a:solidFill>
            <a:srgbClr val="0B2545"/>
          </a:solidFill>
          <a:ln w="12700">
            <a:solidFill>
              <a:srgbClr val="CBD5E1"/>
            </a:solidFill>
            <a:prstDash val="solid"/>
          </a:ln>
        </p:spPr>
      </p:sp>
      <p:sp>
        <p:nvSpPr>
          <p:cNvPr id="8" name="Text 6"/>
          <p:cNvSpPr txBox="1"/>
          <p:nvPr/>
        </p:nvSpPr>
        <p:spPr>
          <a:xfrm>
            <a:off x="6537960" y="164592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Build versions</a:t>
            </a:r>
            <a:endParaRPr lang="en-US" sz="2000" dirty="0"/>
          </a:p>
        </p:txBody>
      </p:sp>
      <p:sp>
        <p:nvSpPr>
          <p:cNvPr id="9" name="Text 7"/>
          <p:cNvSpPr txBox="1"/>
          <p:nvPr/>
        </p:nvSpPr>
        <p:spPr>
          <a:xfrm>
            <a:off x="6537960" y="2148840"/>
            <a:ext cx="4846320" cy="2423160"/>
          </a:xfrm>
          <a:prstGeom prst="rect">
            <a:avLst/>
          </a:prstGeom>
          <a:noFill/>
          <a:ln/>
        </p:spPr>
        <p:txBody>
          <a:bodyPr wrap="square" lIns="0" tIns="0" rIns="0" bIns="0" rtlCol="0" anchor="t"/>
          <a:lstStyle/>
          <a:p>
            <a:pPr indent="0" marL="0">
              <a:buNone/>
            </a:pPr>
            <a:r>
              <a:rPr lang="en-US" sz="1500" dirty="0">
                <a:solidFill>
                  <a:srgbClr val="DBEAFE"/>
                </a:solidFill>
                <a:latin typeface="Calibri" pitchFamily="34" charset="0"/>
                <a:ea typeface="Calibri" pitchFamily="34" charset="-122"/>
                <a:cs typeface="Calibri" pitchFamily="34" charset="-120"/>
              </a:rPr>
              <a:t>The generated artifact, versioned per PROD promotion.</a:t>
            </a:r>
            <a:endParaRPr lang="en-US" sz="1500" dirty="0"/>
          </a:p>
          <a:p>
            <a:pPr indent="0" marL="0">
              <a:buNone/>
            </a:pP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Records the triggering prompt version, artifact, timestamp, status</a:t>
            </a: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PROD points at a build, not just a prompt</a:t>
            </a: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A bad generation can be rolled back without re-running the prompt</a:t>
            </a:r>
            <a:endParaRPr lang="en-US" sz="1500" dirty="0"/>
          </a:p>
        </p:txBody>
      </p:sp>
      <p:sp>
        <p:nvSpPr>
          <p:cNvPr id="10" name="Text 8"/>
          <p:cNvSpPr txBox="1"/>
          <p:nvPr/>
        </p:nvSpPr>
        <p:spPr>
          <a:xfrm>
            <a:off x="548640" y="5120640"/>
            <a:ext cx="11064240" cy="822960"/>
          </a:xfrm>
          <a:prstGeom prst="rect">
            <a:avLst/>
          </a:prstGeom>
          <a:noFill/>
          <a:ln/>
        </p:spPr>
        <p:txBody>
          <a:bodyPr wrap="square" lIns="0" tIns="0" rIns="0" bIns="0" rtlCol="0" anchor="ctr"/>
          <a:lstStyle/>
          <a:p>
            <a:pPr indent="0" marL="0">
              <a:buNone/>
            </a:pPr>
            <a:r>
              <a:rPr lang="en-US" sz="1800" dirty="0">
                <a:solidFill>
                  <a:srgbClr val="334155"/>
                </a:solidFill>
                <a:latin typeface="Calibri" pitchFamily="34" charset="0"/>
                <a:ea typeface="Calibri" pitchFamily="34" charset="-122"/>
                <a:cs typeface="Calibri" pitchFamily="34" charset="-120"/>
              </a:rPr>
              <a:t>Keeping the histories separate means prompt changes and generated output can be audited and reverted independently.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Architecture: hub and spoke</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8</a:t>
            </a:r>
            <a:endParaRPr lang="en-US" sz="1000" dirty="0"/>
          </a:p>
        </p:txBody>
      </p:sp>
      <p:sp>
        <p:nvSpPr>
          <p:cNvPr id="4" name="Shape 2"/>
          <p:cNvSpPr/>
          <p:nvPr/>
        </p:nvSpPr>
        <p:spPr>
          <a:xfrm>
            <a:off x="548640" y="1554480"/>
            <a:ext cx="3291840" cy="1188720"/>
          </a:xfrm>
          <a:prstGeom prst="roundRect">
            <a:avLst>
              <a:gd name="adj" fmla="val 7692"/>
            </a:avLst>
          </a:prstGeom>
          <a:solidFill>
            <a:srgbClr val="13315C"/>
          </a:solidFill>
          <a:ln w="12700">
            <a:solidFill>
              <a:srgbClr val="13315C"/>
            </a:solidFill>
            <a:prstDash val="solid"/>
          </a:ln>
        </p:spPr>
      </p:sp>
      <p:sp>
        <p:nvSpPr>
          <p:cNvPr id="5" name="Text 3"/>
          <p:cNvSpPr txBox="1"/>
          <p:nvPr/>
        </p:nvSpPr>
        <p:spPr>
          <a:xfrm>
            <a:off x="548640" y="1554480"/>
            <a:ext cx="3291840" cy="1188720"/>
          </a:xfrm>
          <a:prstGeom prst="rect">
            <a:avLst/>
          </a:prstGeom>
          <a:noFill/>
          <a:ln/>
        </p:spPr>
        <p:txBody>
          <a:bodyPr wrap="square" lIns="76200" tIns="76200" rIns="76200" bIns="7620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CLI / Browser terminal</a:t>
            </a:r>
            <a:endParaRPr lang="en-US" sz="1800" dirty="0"/>
          </a:p>
          <a:p>
            <a:pPr algn="ctr" indent="0" marL="0">
              <a:buNone/>
            </a:pPr>
            <a:r>
              <a:rPr lang="en-US" sz="1300" dirty="0">
                <a:solidFill>
                  <a:srgbClr val="FFFFFF"/>
                </a:solidFill>
                <a:latin typeface="Calibri" pitchFamily="34" charset="0"/>
                <a:ea typeface="Calibri" pitchFamily="34" charset="-122"/>
                <a:cs typeface="Calibri" pitchFamily="34" charset="-120"/>
              </a:rPr>
              <a:t>Thin MCP clients</a:t>
            </a:r>
            <a:endParaRPr lang="en-US" sz="1800" dirty="0"/>
          </a:p>
        </p:txBody>
      </p:sp>
      <p:sp>
        <p:nvSpPr>
          <p:cNvPr id="6" name="Shape 4"/>
          <p:cNvSpPr/>
          <p:nvPr/>
        </p:nvSpPr>
        <p:spPr>
          <a:xfrm>
            <a:off x="548640" y="3200400"/>
            <a:ext cx="3291840" cy="1188720"/>
          </a:xfrm>
          <a:prstGeom prst="roundRect">
            <a:avLst>
              <a:gd name="adj" fmla="val 7692"/>
            </a:avLst>
          </a:prstGeom>
          <a:solidFill>
            <a:srgbClr val="13315C"/>
          </a:solidFill>
          <a:ln w="12700">
            <a:solidFill>
              <a:srgbClr val="13315C"/>
            </a:solidFill>
            <a:prstDash val="solid"/>
          </a:ln>
        </p:spPr>
      </p:sp>
      <p:sp>
        <p:nvSpPr>
          <p:cNvPr id="7" name="Text 5"/>
          <p:cNvSpPr txBox="1"/>
          <p:nvPr/>
        </p:nvSpPr>
        <p:spPr>
          <a:xfrm>
            <a:off x="548640" y="3200400"/>
            <a:ext cx="3291840" cy="1188720"/>
          </a:xfrm>
          <a:prstGeom prst="rect">
            <a:avLst/>
          </a:prstGeom>
          <a:noFill/>
          <a:ln/>
        </p:spPr>
        <p:txBody>
          <a:bodyPr wrap="square" lIns="76200" tIns="76200" rIns="76200" bIns="7620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Web app</a:t>
            </a:r>
            <a:endParaRPr lang="en-US" sz="1800" dirty="0"/>
          </a:p>
          <a:p>
            <a:pPr algn="ctr" indent="0" marL="0">
              <a:buNone/>
            </a:pPr>
            <a:r>
              <a:rPr lang="en-US" sz="1300" dirty="0">
                <a:solidFill>
                  <a:srgbClr val="FFFFFF"/>
                </a:solidFill>
                <a:latin typeface="Calibri" pitchFamily="34" charset="0"/>
                <a:ea typeface="Calibri" pitchFamily="34" charset="-122"/>
                <a:cs typeface="Calibri" pitchFamily="34" charset="-120"/>
              </a:rPr>
              <a:t>ASP.NET Core Razor Pages</a:t>
            </a:r>
            <a:endParaRPr lang="en-US" sz="1800" dirty="0"/>
          </a:p>
        </p:txBody>
      </p:sp>
      <p:sp>
        <p:nvSpPr>
          <p:cNvPr id="8" name="Shape 6"/>
          <p:cNvSpPr/>
          <p:nvPr/>
        </p:nvSpPr>
        <p:spPr>
          <a:xfrm>
            <a:off x="4754880" y="1554480"/>
            <a:ext cx="3108960" cy="2834640"/>
          </a:xfrm>
          <a:prstGeom prst="roundRect">
            <a:avLst>
              <a:gd name="adj" fmla="val 3226"/>
            </a:avLst>
          </a:prstGeom>
          <a:solidFill>
            <a:srgbClr val="1D4ED8"/>
          </a:solidFill>
          <a:ln w="12700">
            <a:solidFill>
              <a:srgbClr val="1D4ED8"/>
            </a:solidFill>
            <a:prstDash val="solid"/>
          </a:ln>
        </p:spPr>
      </p:sp>
      <p:sp>
        <p:nvSpPr>
          <p:cNvPr id="9" name="Text 7"/>
          <p:cNvSpPr txBox="1"/>
          <p:nvPr/>
        </p:nvSpPr>
        <p:spPr>
          <a:xfrm>
            <a:off x="4754880" y="1554480"/>
            <a:ext cx="3108960" cy="2834640"/>
          </a:xfrm>
          <a:prstGeom prst="rect">
            <a:avLst/>
          </a:prstGeom>
          <a:noFill/>
          <a:ln/>
        </p:spPr>
        <p:txBody>
          <a:bodyPr wrap="square" lIns="76200" tIns="76200" rIns="76200" bIns="7620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MCP server</a:t>
            </a:r>
            <a:endParaRPr lang="en-US" sz="1800" dirty="0"/>
          </a:p>
          <a:p>
            <a:pPr algn="ctr" indent="0" marL="0">
              <a:buNone/>
            </a:pPr>
            <a:r>
              <a:rPr lang="en-US" sz="1300" dirty="0">
                <a:solidFill>
                  <a:srgbClr val="FFFFFF"/>
                </a:solidFill>
                <a:latin typeface="Calibri" pitchFamily="34" charset="0"/>
                <a:ea typeface="Calibri" pitchFamily="34" charset="-122"/>
                <a:cs typeface="Calibri" pitchFamily="34" charset="-120"/>
              </a:rPr>
              <a:t>Store, pipeline, QA, publish rules, auth. MongoDB-backed.</a:t>
            </a:r>
            <a:endParaRPr lang="en-US" sz="1800" dirty="0"/>
          </a:p>
        </p:txBody>
      </p:sp>
      <p:sp>
        <p:nvSpPr>
          <p:cNvPr id="10" name="Shape 8"/>
          <p:cNvSpPr/>
          <p:nvPr/>
        </p:nvSpPr>
        <p:spPr>
          <a:xfrm>
            <a:off x="8778240" y="1554480"/>
            <a:ext cx="2834640" cy="2834640"/>
          </a:xfrm>
          <a:prstGeom prst="roundRect">
            <a:avLst>
              <a:gd name="adj" fmla="val 3226"/>
            </a:avLst>
          </a:prstGeom>
          <a:solidFill>
            <a:srgbClr val="F59E0B"/>
          </a:solidFill>
          <a:ln w="12700">
            <a:solidFill>
              <a:srgbClr val="F59E0B"/>
            </a:solidFill>
            <a:prstDash val="solid"/>
          </a:ln>
        </p:spPr>
      </p:sp>
      <p:sp>
        <p:nvSpPr>
          <p:cNvPr id="11" name="Text 9"/>
          <p:cNvSpPr txBox="1"/>
          <p:nvPr/>
        </p:nvSpPr>
        <p:spPr>
          <a:xfrm>
            <a:off x="8778240" y="1554480"/>
            <a:ext cx="2834640" cy="2834640"/>
          </a:xfrm>
          <a:prstGeom prst="rect">
            <a:avLst/>
          </a:prstGeom>
          <a:noFill/>
          <a:ln/>
        </p:spPr>
        <p:txBody>
          <a:bodyPr wrap="square" lIns="76200" tIns="76200" rIns="76200" bIns="76200" rtlCol="0" anchor="ctr"/>
          <a:lstStyle/>
          <a:p>
            <a:pPr algn="ctr" indent="0" marL="0">
              <a:buNone/>
            </a:pPr>
            <a:r>
              <a:rPr lang="en-US" sz="1800" b="1" dirty="0">
                <a:solidFill>
                  <a:srgbClr val="0B2545"/>
                </a:solidFill>
                <a:latin typeface="Cambria" pitchFamily="34" charset="0"/>
                <a:ea typeface="Cambria" pitchFamily="34" charset="-122"/>
                <a:cs typeface="Cambria" pitchFamily="34" charset="-120"/>
              </a:rPr>
              <a:t>Runner agent</a:t>
            </a:r>
            <a:endParaRPr lang="en-US" sz="1800" dirty="0"/>
          </a:p>
          <a:p>
            <a:pPr algn="ctr" indent="0" marL="0">
              <a:buNone/>
            </a:pPr>
            <a:r>
              <a:rPr lang="en-US" sz="1300" dirty="0">
                <a:solidFill>
                  <a:srgbClr val="0B2545"/>
                </a:solidFill>
                <a:latin typeface="Calibri" pitchFamily="34" charset="0"/>
                <a:ea typeface="Calibri" pitchFamily="34" charset="-122"/>
                <a:cs typeface="Calibri" pitchFamily="34" charset="-120"/>
              </a:rPr>
              <a:t>On the developer's machine. The only place Claude Code runs.</a:t>
            </a:r>
            <a:endParaRPr lang="en-US" sz="1800" dirty="0"/>
          </a:p>
        </p:txBody>
      </p:sp>
      <p:sp>
        <p:nvSpPr>
          <p:cNvPr id="12" name="Shape 10"/>
          <p:cNvSpPr/>
          <p:nvPr/>
        </p:nvSpPr>
        <p:spPr>
          <a:xfrm>
            <a:off x="3840480" y="2148840"/>
            <a:ext cx="914400" cy="0"/>
          </a:xfrm>
          <a:prstGeom prst="line">
            <a:avLst/>
          </a:prstGeom>
          <a:noFill/>
          <a:ln w="25400">
            <a:solidFill>
              <a:srgbClr val="64748B"/>
            </a:solidFill>
            <a:prstDash val="solid"/>
            <a:headEnd type="triangle"/>
            <a:tailEnd type="triangle"/>
          </a:ln>
        </p:spPr>
      </p:sp>
      <p:sp>
        <p:nvSpPr>
          <p:cNvPr id="13" name="Shape 11"/>
          <p:cNvSpPr/>
          <p:nvPr/>
        </p:nvSpPr>
        <p:spPr>
          <a:xfrm>
            <a:off x="3840480" y="3794760"/>
            <a:ext cx="914400" cy="0"/>
          </a:xfrm>
          <a:prstGeom prst="line">
            <a:avLst/>
          </a:prstGeom>
          <a:noFill/>
          <a:ln w="25400">
            <a:solidFill>
              <a:srgbClr val="64748B"/>
            </a:solidFill>
            <a:prstDash val="solid"/>
            <a:headEnd type="triangle"/>
            <a:tailEnd type="triangle"/>
          </a:ln>
        </p:spPr>
      </p:sp>
      <p:sp>
        <p:nvSpPr>
          <p:cNvPr id="14" name="Text 12"/>
          <p:cNvSpPr txBox="1"/>
          <p:nvPr/>
        </p:nvSpPr>
        <p:spPr>
          <a:xfrm>
            <a:off x="3840480" y="1828800"/>
            <a:ext cx="914400" cy="274320"/>
          </a:xfrm>
          <a:prstGeom prst="rect">
            <a:avLst/>
          </a:prstGeom>
          <a:noFill/>
          <a:ln/>
        </p:spPr>
        <p:txBody>
          <a:bodyPr wrap="square" lIns="0" tIns="0" rIns="0" bIns="0" rtlCol="0" anchor="ctr"/>
          <a:lstStyle/>
          <a:p>
            <a:pPr algn="ctr" indent="0" marL="0">
              <a:buNone/>
            </a:pPr>
            <a:r>
              <a:rPr lang="en-US" sz="1000" dirty="0">
                <a:solidFill>
                  <a:srgbClr val="64748B"/>
                </a:solidFill>
              </a:rPr>
              <a:t>MCP over HTTP</a:t>
            </a:r>
            <a:endParaRPr lang="en-US" sz="1000" dirty="0"/>
          </a:p>
        </p:txBody>
      </p:sp>
      <p:sp>
        <p:nvSpPr>
          <p:cNvPr id="15" name="Text 13"/>
          <p:cNvSpPr txBox="1"/>
          <p:nvPr/>
        </p:nvSpPr>
        <p:spPr>
          <a:xfrm>
            <a:off x="3840480" y="3474720"/>
            <a:ext cx="914400" cy="274320"/>
          </a:xfrm>
          <a:prstGeom prst="rect">
            <a:avLst/>
          </a:prstGeom>
          <a:noFill/>
          <a:ln/>
        </p:spPr>
        <p:txBody>
          <a:bodyPr wrap="square" lIns="0" tIns="0" rIns="0" bIns="0" rtlCol="0" anchor="ctr"/>
          <a:lstStyle/>
          <a:p>
            <a:pPr algn="ctr" indent="0" marL="0">
              <a:buNone/>
            </a:pPr>
            <a:r>
              <a:rPr lang="en-US" sz="1000" dirty="0">
                <a:solidFill>
                  <a:srgbClr val="64748B"/>
                </a:solidFill>
              </a:rPr>
              <a:t>MCP over HTTP</a:t>
            </a:r>
            <a:endParaRPr lang="en-US" sz="1000" dirty="0"/>
          </a:p>
        </p:txBody>
      </p:sp>
      <p:sp>
        <p:nvSpPr>
          <p:cNvPr id="16" name="Shape 14"/>
          <p:cNvSpPr/>
          <p:nvPr/>
        </p:nvSpPr>
        <p:spPr>
          <a:xfrm>
            <a:off x="7863840" y="2971800"/>
            <a:ext cx="914400" cy="0"/>
          </a:xfrm>
          <a:prstGeom prst="line">
            <a:avLst/>
          </a:prstGeom>
          <a:noFill/>
          <a:ln w="25400">
            <a:solidFill>
              <a:srgbClr val="64748B"/>
            </a:solidFill>
            <a:prstDash val="solid"/>
            <a:headEnd type="triangle"/>
            <a:tailEnd type="triangle"/>
          </a:ln>
        </p:spPr>
      </p:sp>
      <p:sp>
        <p:nvSpPr>
          <p:cNvPr id="17" name="Text 15"/>
          <p:cNvSpPr txBox="1"/>
          <p:nvPr/>
        </p:nvSpPr>
        <p:spPr>
          <a:xfrm>
            <a:off x="7863840" y="2651760"/>
            <a:ext cx="914400" cy="274320"/>
          </a:xfrm>
          <a:prstGeom prst="rect">
            <a:avLst/>
          </a:prstGeom>
          <a:noFill/>
          <a:ln/>
        </p:spPr>
        <p:txBody>
          <a:bodyPr wrap="square" lIns="0" tIns="0" rIns="0" bIns="0" rtlCol="0" anchor="ctr"/>
          <a:lstStyle/>
          <a:p>
            <a:pPr algn="ctr" indent="0" marL="0">
              <a:buNone/>
            </a:pPr>
            <a:r>
              <a:rPr lang="en-US" sz="1000" dirty="0">
                <a:solidFill>
                  <a:srgbClr val="64748B"/>
                </a:solidFill>
              </a:rPr>
              <a:t>SignalR</a:t>
            </a:r>
            <a:endParaRPr lang="en-US" sz="1000" dirty="0"/>
          </a:p>
        </p:txBody>
      </p:sp>
      <p:sp>
        <p:nvSpPr>
          <p:cNvPr id="18" name="Text 16"/>
          <p:cNvSpPr txBox="1"/>
          <p:nvPr/>
        </p:nvSpPr>
        <p:spPr>
          <a:xfrm>
            <a:off x="548640" y="4846320"/>
            <a:ext cx="11064240" cy="1280160"/>
          </a:xfrm>
          <a:prstGeom prst="rect">
            <a:avLst/>
          </a:prstGeom>
          <a:noFill/>
          <a:ln/>
        </p:spPr>
        <p:txBody>
          <a:bodyPr wrap="square" lIns="0" tIns="0" rIns="0" bIns="0" rtlCol="0" anchor="ctr"/>
          <a:lstStyle/>
          <a:p>
            <a:pPr indent="0" marL="0">
              <a:buNone/>
            </a:pPr>
            <a:r>
              <a:rPr lang="en-US" sz="1700" dirty="0">
                <a:solidFill>
                  <a:srgbClr val="334155"/>
                </a:solidFill>
                <a:latin typeface="Calibri" pitchFamily="34" charset="0"/>
                <a:ea typeface="Calibri" pitchFamily="34" charset="-122"/>
                <a:cs typeface="Calibri" pitchFamily="34" charset="-120"/>
              </a:rPr>
              <a:t>The CLI, web app and Runner never talk to each other directly. The MCP round trip is mandatory so the rules engine cannot be bypassed. Generation uses the developer's own Claude Pro login, with no API key and no other LLM provider.</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Publish rules engine</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9</a:t>
            </a:r>
            <a:endParaRPr lang="en-US" sz="1000" dirty="0"/>
          </a:p>
        </p:txBody>
      </p:sp>
      <p:sp>
        <p:nvSpPr>
          <p:cNvPr id="4" name="Shape 2"/>
          <p:cNvSpPr/>
          <p:nvPr/>
        </p:nvSpPr>
        <p:spPr>
          <a:xfrm>
            <a:off x="548640" y="1463040"/>
            <a:ext cx="5394960" cy="3383280"/>
          </a:xfrm>
          <a:prstGeom prst="roundRect">
            <a:avLst>
              <a:gd name="adj" fmla="val 3243"/>
            </a:avLst>
          </a:prstGeom>
          <a:solidFill>
            <a:srgbClr val="F1F5F9"/>
          </a:solidFill>
          <a:ln w="12700">
            <a:solidFill>
              <a:srgbClr val="CBD5E1"/>
            </a:solidFill>
            <a:prstDash val="solid"/>
          </a:ln>
        </p:spPr>
      </p:sp>
      <p:sp>
        <p:nvSpPr>
          <p:cNvPr id="5" name="Text 3"/>
          <p:cNvSpPr txBox="1"/>
          <p:nvPr/>
        </p:nvSpPr>
        <p:spPr>
          <a:xfrm>
            <a:off x="822960" y="164592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First run</a:t>
            </a:r>
            <a:endParaRPr lang="en-US" sz="2000" dirty="0"/>
          </a:p>
        </p:txBody>
      </p:sp>
      <p:sp>
        <p:nvSpPr>
          <p:cNvPr id="6" name="Text 4"/>
          <p:cNvSpPr txBox="1"/>
          <p:nvPr/>
        </p:nvSpPr>
        <p:spPr>
          <a:xfrm>
            <a:off x="822960" y="2148840"/>
            <a:ext cx="4846320" cy="25146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No existing build.</a:t>
            </a:r>
            <a:endParaRPr lang="en-US" sz="1500" dirty="0"/>
          </a:p>
          <a:p>
            <a:pPr indent="0" marL="0">
              <a:buNone/>
            </a:pP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Full prompt sent to Claude Code</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Screening and generation merged into a single call</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 Produces artifact v1</a:t>
            </a:r>
            <a:endParaRPr lang="en-US" sz="1500" dirty="0"/>
          </a:p>
        </p:txBody>
      </p:sp>
      <p:sp>
        <p:nvSpPr>
          <p:cNvPr id="7" name="Shape 5"/>
          <p:cNvSpPr/>
          <p:nvPr/>
        </p:nvSpPr>
        <p:spPr>
          <a:xfrm>
            <a:off x="6263640" y="1463040"/>
            <a:ext cx="5394960" cy="3383280"/>
          </a:xfrm>
          <a:prstGeom prst="roundRect">
            <a:avLst>
              <a:gd name="adj" fmla="val 3243"/>
            </a:avLst>
          </a:prstGeom>
          <a:solidFill>
            <a:srgbClr val="0B2545"/>
          </a:solidFill>
          <a:ln w="12700">
            <a:solidFill>
              <a:srgbClr val="CBD5E1"/>
            </a:solidFill>
            <a:prstDash val="solid"/>
          </a:ln>
        </p:spPr>
      </p:sp>
      <p:sp>
        <p:nvSpPr>
          <p:cNvPr id="8" name="Text 6"/>
          <p:cNvSpPr txBox="1"/>
          <p:nvPr/>
        </p:nvSpPr>
        <p:spPr>
          <a:xfrm>
            <a:off x="6537960" y="164592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Subsequent runs</a:t>
            </a:r>
            <a:endParaRPr lang="en-US" sz="2000" dirty="0"/>
          </a:p>
        </p:txBody>
      </p:sp>
      <p:sp>
        <p:nvSpPr>
          <p:cNvPr id="9" name="Text 7"/>
          <p:cNvSpPr txBox="1"/>
          <p:nvPr/>
        </p:nvSpPr>
        <p:spPr>
          <a:xfrm>
            <a:off x="6537960" y="2148840"/>
            <a:ext cx="4846320" cy="2514600"/>
          </a:xfrm>
          <a:prstGeom prst="rect">
            <a:avLst/>
          </a:prstGeom>
          <a:noFill/>
          <a:ln/>
        </p:spPr>
        <p:txBody>
          <a:bodyPr wrap="square" lIns="0" tIns="0" rIns="0" bIns="0" rtlCol="0" anchor="t"/>
          <a:lstStyle/>
          <a:p>
            <a:pPr indent="0" marL="0">
              <a:buNone/>
            </a:pPr>
            <a:r>
              <a:rPr lang="en-US" sz="1500" dirty="0">
                <a:solidFill>
                  <a:srgbClr val="DBEAFE"/>
                </a:solidFill>
                <a:latin typeface="Calibri" pitchFamily="34" charset="0"/>
                <a:ea typeface="Calibri" pitchFamily="34" charset="-122"/>
                <a:cs typeface="Calibri" pitchFamily="34" charset="-120"/>
              </a:rPr>
              <a:t>Existing build present.</a:t>
            </a:r>
            <a:endParaRPr lang="en-US" sz="1500" dirty="0"/>
          </a:p>
          <a:p>
            <a:pPr indent="0" marL="0">
              <a:buNone/>
            </a:pP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Diff of previous and new prompt, plus existing artifact</a:t>
            </a: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Targeted update, not a full regeneration</a:t>
            </a:r>
            <a:endParaRPr lang="en-US" sz="1500" dirty="0"/>
          </a:p>
          <a:p>
            <a:pPr indent="0" marL="0">
              <a:buNone/>
            </a:pPr>
            <a:r>
              <a:rPr lang="en-US" sz="1500" dirty="0">
                <a:solidFill>
                  <a:srgbClr val="DBEAFE"/>
                </a:solidFill>
                <a:latin typeface="Calibri" pitchFamily="34" charset="0"/>
                <a:ea typeface="Calibri" pitchFamily="34" charset="-122"/>
                <a:cs typeface="Calibri" pitchFamily="34" charset="-120"/>
              </a:rPr>
              <a:t>• Produces artifact vN+1; the previous one stays for rollback</a:t>
            </a:r>
            <a:endParaRPr lang="en-US" sz="1500" dirty="0"/>
          </a:p>
        </p:txBody>
      </p:sp>
      <p:sp>
        <p:nvSpPr>
          <p:cNvPr id="10" name="Text 8"/>
          <p:cNvSpPr txBox="1"/>
          <p:nvPr/>
        </p:nvSpPr>
        <p:spPr>
          <a:xfrm>
            <a:off x="548640" y="5120640"/>
            <a:ext cx="11064240" cy="1005840"/>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Every output is sanity-checked (complete document, no stray explanation text) and given consistent scaffolding such as viewport meta and UTF-8. One flexible strategy covers content sites and functional apps, with no mode picker.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Technology stack</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905256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Choice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Runtime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 on .NET 10, five projects in one solution (about 2,900 lines of C#)</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Server</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ASP.NET Core with ModelContextProtocol.AspNetCore 2.2.0, Streamable HTTP at /mcp</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Realtime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SignalR hub at /runnerhub, Microsoft.AspNetCore.SignalR.Client 10.0.11 in the Runner</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Persistence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MongoDB.Driver 3.11.1 on Atlas: users, sessions and app_store collections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Diffing</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DiffPlex 1.9.0, whole-prompt line diff</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Generation</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Claude Code headless: claude -p --output-format json, Claude Pro login</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Web UI</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Razor Pages, cookie auth, Tailwind via CDN, xterm.js over WebSocket</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548640">
                <a:tc>
                  <a:txBody>
                    <a:bodyPr/>
                    <a:lstStyle/>
                    <a:p>
                      <a:pPr indent="0" marL="0">
                        <a:buNone/>
                      </a:pPr>
                      <a:r>
                        <a:rPr lang="en-US" sz="1400" b="1" dirty="0">
                          <a:solidFill>
                            <a:srgbClr val="334155"/>
                          </a:solidFill>
                          <a:latin typeface="Calibri" pitchFamily="34" charset="0"/>
                          <a:ea typeface="Calibri" pitchFamily="34" charset="-122"/>
                          <a:cs typeface="Calibri" pitchFamily="34" charset="-120"/>
                        </a:rPr>
                        <a:t>Delivery</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Multi-stage Docker build (SDK 10.0 → aspnet 10.0), CLI bundled in the image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Domain model (PromptVcs.Core/Models.cs)</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11</a:t>
            </a:r>
            <a:endParaRPr lang="en-US" sz="1000" dirty="0"/>
          </a:p>
        </p:txBody>
      </p:sp>
      <p:sp>
        <p:nvSpPr>
          <p:cNvPr id="4" name="Shape 2"/>
          <p:cNvSpPr/>
          <p:nvPr/>
        </p:nvSpPr>
        <p:spPr>
          <a:xfrm>
            <a:off x="548640" y="1371600"/>
            <a:ext cx="6035040" cy="4754880"/>
          </a:xfrm>
          <a:prstGeom prst="roundRect">
            <a:avLst>
              <a:gd name="adj" fmla="val 1923"/>
            </a:avLst>
          </a:prstGeom>
          <a:solidFill>
            <a:srgbClr val="0B2545"/>
          </a:solidFill>
          <a:ln w="12700">
            <a:solidFill>
              <a:srgbClr val="0B2545"/>
            </a:solidFill>
            <a:prstDash val="solid"/>
          </a:ln>
        </p:spPr>
      </p:sp>
      <p:sp>
        <p:nvSpPr>
          <p:cNvPr id="5" name="Text 3"/>
          <p:cNvSpPr txBox="1"/>
          <p:nvPr/>
        </p:nvSpPr>
        <p:spPr>
          <a:xfrm>
            <a:off x="777240" y="1554480"/>
            <a:ext cx="5577840" cy="4389120"/>
          </a:xfrm>
          <a:prstGeom prst="rect">
            <a:avLst/>
          </a:prstGeom>
          <a:noFill/>
          <a:ln/>
        </p:spPr>
        <p:txBody>
          <a:bodyPr wrap="square" lIns="0" tIns="0" rIns="0" bIns="0" rtlCol="0" anchor="t"/>
          <a:lstStyle/>
          <a:p>
            <a:pPr indent="0" marL="0">
              <a:buNone/>
            </a:pPr>
            <a:r>
              <a:rPr lang="en-US" sz="1300" dirty="0">
                <a:solidFill>
                  <a:srgbClr val="CBD5E1"/>
                </a:solidFill>
                <a:latin typeface="Courier New" pitchFamily="34" charset="0"/>
                <a:ea typeface="Courier New" pitchFamily="34" charset="-122"/>
                <a:cs typeface="Courier New" pitchFamily="34" charset="-120"/>
              </a:rPr>
              <a:t>record PromptVersion(int Version,</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string Content, DateTimeOffset CreatedAt)</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record QaCheckResult(bool Passed,</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string? Detail, long? DurationMs)</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record QaCheckpoint(int Version,</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DateTimeOffset Timestamp, bool Passed,</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QaChecks Checks)</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record Build(int BuildVersion,</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int PromptVersion, string? ArtifactUrl,</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DateTimeOffset Timestamp,</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BuildStatus Status, string? Detail)</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class Environments {</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int? Dev; int? Qa; int? Prod; }</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class PromptRecord { Id, Name, History,</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Environments, QaCheckpoints, Builds }</a:t>
            </a:r>
            <a:endParaRPr lang="en-US" sz="1300" dirty="0"/>
          </a:p>
        </p:txBody>
      </p:sp>
      <p:sp>
        <p:nvSpPr>
          <p:cNvPr id="6" name="Text 4"/>
          <p:cNvSpPr txBox="1"/>
          <p:nvPr/>
        </p:nvSpPr>
        <p:spPr>
          <a:xfrm>
            <a:off x="6949440" y="1371600"/>
            <a:ext cx="4663440" cy="4754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Immutable records for history, so past versions and checkpoints can never be rewritten.</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Environments hold version numbers, not copies. Promotion is a field write.</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Build status is Success, Failed or Skipped, and each build points back to the prompt version that caused it.</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QaChecks stores three independent results, each with its own duration in milliseconds.</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The whole Store is a Dictionary of PromptRecord, keyed by a slug of the prompt name.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Pipeline internals: Pipeline.SubmitAsync</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12</a:t>
            </a:r>
            <a:endParaRPr lang="en-US" sz="1000" dirty="0"/>
          </a:p>
        </p:txBody>
      </p:sp>
      <p:sp>
        <p:nvSpPr>
          <p:cNvPr id="4" name="Shape 2"/>
          <p:cNvSpPr/>
          <p:nvPr/>
        </p:nvSpPr>
        <p:spPr>
          <a:xfrm>
            <a:off x="548640" y="1371600"/>
            <a:ext cx="5669280" cy="4754880"/>
          </a:xfrm>
          <a:prstGeom prst="roundRect">
            <a:avLst>
              <a:gd name="adj" fmla="val 1923"/>
            </a:avLst>
          </a:prstGeom>
          <a:solidFill>
            <a:srgbClr val="0B2545"/>
          </a:solidFill>
          <a:ln w="12700">
            <a:solidFill>
              <a:srgbClr val="0B2545"/>
            </a:solidFill>
            <a:prstDash val="solid"/>
          </a:ln>
        </p:spPr>
      </p:sp>
      <p:sp>
        <p:nvSpPr>
          <p:cNvPr id="5" name="Text 3"/>
          <p:cNvSpPr txBox="1"/>
          <p:nvPr/>
        </p:nvSpPr>
        <p:spPr>
          <a:xfrm>
            <a:off x="777240" y="1554480"/>
            <a:ext cx="5212080" cy="4389120"/>
          </a:xfrm>
          <a:prstGeom prst="rect">
            <a:avLst/>
          </a:prstGeom>
          <a:noFill/>
          <a:ln/>
        </p:spPr>
        <p:txBody>
          <a:bodyPr wrap="square" lIns="0" tIns="0" rIns="0" bIns="0" rtlCol="0" anchor="t"/>
          <a:lstStyle/>
          <a:p>
            <a:pPr indent="0" marL="0">
              <a:buNone/>
            </a:pPr>
            <a:r>
              <a:rPr lang="en-US" sz="1300" dirty="0">
                <a:solidFill>
                  <a:srgbClr val="CBD5E1"/>
                </a:solidFill>
                <a:latin typeface="Courier New" pitchFamily="34" charset="0"/>
                <a:ea typeface="Courier New" pitchFamily="34" charset="-122"/>
                <a:cs typeface="Courier New" pitchFamily="34" charset="-120"/>
              </a:rPr>
              <a:t>version = last.Version + 1</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history.Add(version); Dev = version</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isFirstRun = no Build with Status == Success</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if isFirstRun:</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Qa.RunValidation(content)    // local</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ScreenAndPublishFirstRunAsync()</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 1 Claude Code call: screen + build</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else:</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Qa.RunAsync()                // call 1</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QaCheckpoints.Add(checkpoint)  // always</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if !checkpoint.Passed -&gt; QaFailed</a:t>
            </a:r>
            <a:endParaRPr lang="en-US" sz="1300" dirty="0"/>
          </a:p>
          <a:p>
            <a:pPr indent="0" marL="0">
              <a:buNone/>
            </a:pP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Qa = version; Prod = version</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PublishAsync()                 // call 2 (edit)</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Builds.Add(build)</a:t>
            </a:r>
            <a:endParaRPr lang="en-US" sz="1300" dirty="0"/>
          </a:p>
        </p:txBody>
      </p:sp>
      <p:sp>
        <p:nvSpPr>
          <p:cNvPr id="6" name="Text 4"/>
          <p:cNvSpPr txBox="1"/>
          <p:nvPr/>
        </p:nvSpPr>
        <p:spPr>
          <a:xfrm>
            <a:off x="6583680" y="1371600"/>
            <a:ext cx="5029200" cy="4754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A checkpoint is recorded even when QA fails, so failures are auditable.</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If validation fails, safety and feasibility are marked Skipped and no Claude Code call is spent.</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A first create costs one Claude Code call. An edit costs two.</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PROD is set before publishing, so a failed build leaves PROD pointing at a version with a Failed build record.</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Pipeline, Qa and PublishRules only see the IClaudeCodeInvoker interface.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First-run protocol and artifact sanitizing</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13</a:t>
            </a:r>
            <a:endParaRPr lang="en-US" sz="1000" dirty="0"/>
          </a:p>
        </p:txBody>
      </p:sp>
      <p:sp>
        <p:nvSpPr>
          <p:cNvPr id="4" name="Shape 2"/>
          <p:cNvSpPr/>
          <p:nvPr/>
        </p:nvSpPr>
        <p:spPr>
          <a:xfrm>
            <a:off x="548640" y="1371600"/>
            <a:ext cx="5394960" cy="2377440"/>
          </a:xfrm>
          <a:prstGeom prst="roundRect">
            <a:avLst>
              <a:gd name="adj" fmla="val 4615"/>
            </a:avLst>
          </a:prstGeom>
          <a:solidFill>
            <a:srgbClr val="F1F5F9"/>
          </a:solidFill>
          <a:ln w="12700">
            <a:solidFill>
              <a:srgbClr val="CBD5E1"/>
            </a:solidFill>
            <a:prstDash val="solid"/>
          </a:ln>
        </p:spPr>
      </p:sp>
      <p:sp>
        <p:nvSpPr>
          <p:cNvPr id="5" name="Text 3"/>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One call, two judgments</a:t>
            </a:r>
            <a:endParaRPr lang="en-US" sz="2000" dirty="0"/>
          </a:p>
        </p:txBody>
      </p:sp>
      <p:sp>
        <p:nvSpPr>
          <p:cNvPr id="6" name="Text 4"/>
          <p:cNvSpPr txBox="1"/>
          <p:nvPr/>
        </p:nvSpPr>
        <p:spPr>
          <a:xfrm>
            <a:off x="822960" y="2057400"/>
            <a:ext cx="4846320" cy="15087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Response is one JSON line {safe, safetyReason, feasible, feasibilitySummary}, then a literal ===HTML=== line, then raw HTML. The HTML is never JSON-escaped.</a:t>
            </a:r>
            <a:endParaRPr lang="en-US" sz="1500" dirty="0"/>
          </a:p>
        </p:txBody>
      </p:sp>
      <p:sp>
        <p:nvSpPr>
          <p:cNvPr id="7" name="Shape 5"/>
          <p:cNvSpPr/>
          <p:nvPr/>
        </p:nvSpPr>
        <p:spPr>
          <a:xfrm>
            <a:off x="548640" y="3931920"/>
            <a:ext cx="5394960" cy="2194560"/>
          </a:xfrm>
          <a:prstGeom prst="roundRect">
            <a:avLst>
              <a:gd name="adj" fmla="val 5000"/>
            </a:avLst>
          </a:prstGeom>
          <a:solidFill>
            <a:srgbClr val="F1F5F9"/>
          </a:solidFill>
          <a:ln w="12700">
            <a:solidFill>
              <a:srgbClr val="CBD5E1"/>
            </a:solidFill>
            <a:prstDash val="solid"/>
          </a:ln>
        </p:spPr>
      </p:sp>
      <p:sp>
        <p:nvSpPr>
          <p:cNvPr id="8" name="Text 6"/>
          <p:cNvSpPr txBox="1"/>
          <p:nvPr/>
        </p:nvSpPr>
        <p:spPr>
          <a:xfrm>
            <a:off x="822960" y="411480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Why a marker</a:t>
            </a:r>
            <a:endParaRPr lang="en-US" sz="2000" dirty="0"/>
          </a:p>
        </p:txBody>
      </p:sp>
      <p:sp>
        <p:nvSpPr>
          <p:cNvPr id="9" name="Text 7"/>
          <p:cNvSpPr txBox="1"/>
          <p:nvPr/>
        </p:nvSpPr>
        <p:spPr>
          <a:xfrm>
            <a:off x="822960" y="4617720"/>
            <a:ext cx="4846320" cy="13258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Asking a model to escape multi-KB HTML inside JSON is a reliability risk. A plain string search for the marker has none.</a:t>
            </a:r>
            <a:endParaRPr lang="en-US" sz="1500" dirty="0"/>
          </a:p>
        </p:txBody>
      </p:sp>
      <p:sp>
        <p:nvSpPr>
          <p:cNvPr id="10" name="Shape 8"/>
          <p:cNvSpPr/>
          <p:nvPr/>
        </p:nvSpPr>
        <p:spPr>
          <a:xfrm>
            <a:off x="6263640" y="1371600"/>
            <a:ext cx="5394960" cy="4754880"/>
          </a:xfrm>
          <a:prstGeom prst="roundRect">
            <a:avLst>
              <a:gd name="adj" fmla="val 2308"/>
            </a:avLst>
          </a:prstGeom>
          <a:solidFill>
            <a:srgbClr val="0B2545"/>
          </a:solidFill>
          <a:ln w="12700">
            <a:solidFill>
              <a:srgbClr val="CBD5E1"/>
            </a:solidFill>
            <a:prstDash val="solid"/>
          </a:ln>
        </p:spPr>
      </p:sp>
      <p:sp>
        <p:nvSpPr>
          <p:cNvPr id="11" name="Text 9"/>
          <p:cNvSpPr txBox="1"/>
          <p:nvPr/>
        </p:nvSpPr>
        <p:spPr>
          <a:xfrm>
            <a:off x="6537960" y="155448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ArtifactSanitizer rules</a:t>
            </a:r>
            <a:endParaRPr lang="en-US" sz="2000" dirty="0"/>
          </a:p>
        </p:txBody>
      </p:sp>
      <p:sp>
        <p:nvSpPr>
          <p:cNvPr id="12" name="Text 10"/>
          <p:cNvSpPr txBox="1"/>
          <p:nvPr/>
        </p:nvSpPr>
        <p:spPr>
          <a:xfrm>
            <a:off x="6537960" y="2057400"/>
            <a:ext cx="4846320" cy="3886200"/>
          </a:xfrm>
          <a:prstGeom prst="rect">
            <a:avLst/>
          </a:prstGeom>
          <a:noFill/>
          <a:ln/>
        </p:spPr>
        <p:txBody>
          <a:bodyPr wrap="square" lIns="0" tIns="0" rIns="0" bIns="0" rtlCol="0" anchor="t"/>
          <a:lstStyle/>
          <a:p>
            <a:pPr indent="0" marL="0">
              <a:buNone/>
            </a:pPr>
            <a:endParaRPr lang="en-US" sz="1500" dirty="0"/>
          </a:p>
        </p:txBody>
      </p:sp>
      <p:sp>
        <p:nvSpPr>
          <p:cNvPr id="13" name="Text 11"/>
          <p:cNvSpPr txBox="1"/>
          <p:nvPr/>
        </p:nvSpPr>
        <p:spPr>
          <a:xfrm>
            <a:off x="6537960" y="2103120"/>
            <a:ext cx="4846320" cy="3840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Strips a wrapping ```html code fence if the model added one.</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Rejects output shorter than 20 characters.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Injects the viewport meta tag when it is missing.</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Injects meta charset utf-8 last, so it lands first in head, within the 1024-byte window browsers scan.</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Writes files as UTF-8 without a BOM.</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Writes /site/{id}/v{n}/index.html and overwrites the latest /site/{id}/index.html.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Runner dispatch over SignalR</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14</a:t>
            </a:r>
            <a:endParaRPr lang="en-US" sz="1000" dirty="0"/>
          </a:p>
        </p:txBody>
      </p:sp>
      <p:sp>
        <p:nvSpPr>
          <p:cNvPr id="4" name="Shape 2"/>
          <p:cNvSpPr/>
          <p:nvPr/>
        </p:nvSpPr>
        <p:spPr>
          <a:xfrm>
            <a:off x="548640" y="1371600"/>
            <a:ext cx="5852160" cy="4754880"/>
          </a:xfrm>
          <a:prstGeom prst="roundRect">
            <a:avLst>
              <a:gd name="adj" fmla="val 1923"/>
            </a:avLst>
          </a:prstGeom>
          <a:solidFill>
            <a:srgbClr val="0B2545"/>
          </a:solidFill>
          <a:ln w="12700">
            <a:solidFill>
              <a:srgbClr val="0B2545"/>
            </a:solidFill>
            <a:prstDash val="solid"/>
          </a:ln>
        </p:spPr>
      </p:sp>
      <p:sp>
        <p:nvSpPr>
          <p:cNvPr id="5" name="Text 3"/>
          <p:cNvSpPr txBox="1"/>
          <p:nvPr/>
        </p:nvSpPr>
        <p:spPr>
          <a:xfrm>
            <a:off x="777240" y="1554480"/>
            <a:ext cx="5394960" cy="4389120"/>
          </a:xfrm>
          <a:prstGeom prst="rect">
            <a:avLst/>
          </a:prstGeom>
          <a:noFill/>
          <a:ln/>
        </p:spPr>
        <p:txBody>
          <a:bodyPr wrap="square" lIns="0" tIns="0" rIns="0" bIns="0" rtlCol="0" anchor="t"/>
          <a:lstStyle/>
          <a:p>
            <a:pPr indent="0" marL="0">
              <a:buNone/>
            </a:pPr>
            <a:r>
              <a:rPr lang="en-US" sz="1200" dirty="0">
                <a:solidFill>
                  <a:srgbClr val="CBD5E1"/>
                </a:solidFill>
                <a:latin typeface="Courier New" pitchFamily="34" charset="0"/>
                <a:ea typeface="Courier New" pitchFamily="34" charset="-122"/>
                <a:cs typeface="Courier New" pitchFamily="34" charset="-120"/>
              </a:rPr>
              <a:t>Server (RunnerDispatchInvoker)</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jobId = Guid.NewGuid().ToString("N")</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pending[jobId] = new TaskCompletionSource</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Clients.Client(connId)</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.SendAsync("RunJob", jobId, prompt)</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await tcs.Task   // 5 min timeout</a:t>
            </a:r>
            <a:endParaRPr lang="en-US" sz="1200" dirty="0"/>
          </a:p>
          <a:p>
            <a:pPr indent="0" marL="0">
              <a:buNone/>
            </a:pP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Runner (PromptVcs.Runner)</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on "RunJob": run claude -p ...</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invoke hub "ReportResult"(</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jobId, ok, text,</a:t>
            </a: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    usageLimitHit, detail)</a:t>
            </a:r>
            <a:endParaRPr lang="en-US" sz="1200" dirty="0"/>
          </a:p>
          <a:p>
            <a:pPr indent="0" marL="0">
              <a:buNone/>
            </a:pPr>
            <a:endParaRPr lang="en-US" sz="1200" dirty="0"/>
          </a:p>
          <a:p>
            <a:pPr indent="0" marL="0">
              <a:buNone/>
            </a:pPr>
            <a:r>
              <a:rPr lang="en-US" sz="1200" dirty="0">
                <a:solidFill>
                  <a:srgbClr val="CBD5E1"/>
                </a:solidFill>
                <a:latin typeface="Courier New" pitchFamily="34" charset="0"/>
                <a:ea typeface="Courier New" pitchFamily="34" charset="-122"/>
                <a:cs typeface="Courier New" pitchFamily="34" charset="-120"/>
              </a:rPr>
              <a:t>Server: CompleteJob(jobId) -&gt; tcs.TrySetResult</a:t>
            </a:r>
            <a:endParaRPr lang="en-US" sz="1200" dirty="0"/>
          </a:p>
        </p:txBody>
      </p:sp>
      <p:sp>
        <p:nvSpPr>
          <p:cNvPr id="6" name="Text 4"/>
          <p:cNvSpPr txBox="1"/>
          <p:nvPr/>
        </p:nvSpPr>
        <p:spPr>
          <a:xfrm>
            <a:off x="6766560" y="1371600"/>
            <a:ext cx="4846320" cy="4754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Jobs are matched to replies with a ConcurrentDictionary of TaskCompletionSource objects.</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RunContinuationsAsynchronously avoids running continuations on the hub thread.</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No runner connected, or a timeout, returns a failed ClaudeCodeResult. It does not throw.</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The Runner uses WithAutomaticReconnect, and the registry tracks one connection id.</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The shared token is checked on connect, and a mismatch calls Context.Abort().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Invoking Claude Code safely</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15</a:t>
            </a:r>
            <a:endParaRPr lang="en-US" sz="1000" dirty="0"/>
          </a:p>
        </p:txBody>
      </p:sp>
      <p:sp>
        <p:nvSpPr>
          <p:cNvPr id="4" name="Shape 2"/>
          <p:cNvSpPr/>
          <p:nvPr/>
        </p:nvSpPr>
        <p:spPr>
          <a:xfrm>
            <a:off x="548640" y="1371600"/>
            <a:ext cx="3611880" cy="2331720"/>
          </a:xfrm>
          <a:prstGeom prst="roundRect">
            <a:avLst>
              <a:gd name="adj" fmla="val 4706"/>
            </a:avLst>
          </a:prstGeom>
          <a:solidFill>
            <a:srgbClr val="F1F5F9"/>
          </a:solidFill>
          <a:ln w="12700">
            <a:solidFill>
              <a:srgbClr val="CBD5E1"/>
            </a:solidFill>
            <a:prstDash val="solid"/>
          </a:ln>
        </p:spPr>
      </p:sp>
      <p:sp>
        <p:nvSpPr>
          <p:cNvPr id="5" name="Text 3"/>
          <p:cNvSpPr txBox="1"/>
          <p:nvPr/>
        </p:nvSpPr>
        <p:spPr>
          <a:xfrm>
            <a:off x="822960" y="1554480"/>
            <a:ext cx="306324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Prompt via stdin</a:t>
            </a:r>
            <a:endParaRPr lang="en-US" sz="2000" dirty="0"/>
          </a:p>
        </p:txBody>
      </p:sp>
      <p:sp>
        <p:nvSpPr>
          <p:cNvPr id="6" name="Text 4"/>
          <p:cNvSpPr txBox="1"/>
          <p:nvPr/>
        </p:nvSpPr>
        <p:spPr>
          <a:xfrm>
            <a:off x="822960" y="2057400"/>
            <a:ext cx="306324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Avoids argv length and quoting limits. Arguments are only -p --output-format json.</a:t>
            </a:r>
            <a:endParaRPr lang="en-US" sz="1500" dirty="0"/>
          </a:p>
        </p:txBody>
      </p:sp>
      <p:sp>
        <p:nvSpPr>
          <p:cNvPr id="7" name="Shape 5"/>
          <p:cNvSpPr/>
          <p:nvPr/>
        </p:nvSpPr>
        <p:spPr>
          <a:xfrm>
            <a:off x="4297680" y="1371600"/>
            <a:ext cx="3611880" cy="2331720"/>
          </a:xfrm>
          <a:prstGeom prst="roundRect">
            <a:avLst>
              <a:gd name="adj" fmla="val 4706"/>
            </a:avLst>
          </a:prstGeom>
          <a:solidFill>
            <a:srgbClr val="F1F5F9"/>
          </a:solidFill>
          <a:ln w="12700">
            <a:solidFill>
              <a:srgbClr val="CBD5E1"/>
            </a:solidFill>
            <a:prstDash val="solid"/>
          </a:ln>
        </p:spPr>
      </p:sp>
      <p:sp>
        <p:nvSpPr>
          <p:cNvPr id="8" name="Text 6"/>
          <p:cNvSpPr txBox="1"/>
          <p:nvPr/>
        </p:nvSpPr>
        <p:spPr>
          <a:xfrm>
            <a:off x="4572000" y="1554480"/>
            <a:ext cx="306324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Result parsing</a:t>
            </a:r>
            <a:endParaRPr lang="en-US" sz="2000" dirty="0"/>
          </a:p>
        </p:txBody>
      </p:sp>
      <p:sp>
        <p:nvSpPr>
          <p:cNvPr id="9" name="Text 7"/>
          <p:cNvSpPr txBox="1"/>
          <p:nvPr/>
        </p:nvSpPr>
        <p:spPr>
          <a:xfrm>
            <a:off x="4572000" y="2057400"/>
            <a:ext cx="306324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Reads the result field of the JSON response. Falls back to raw stdout on a JsonException.</a:t>
            </a:r>
            <a:endParaRPr lang="en-US" sz="1500" dirty="0"/>
          </a:p>
        </p:txBody>
      </p:sp>
      <p:sp>
        <p:nvSpPr>
          <p:cNvPr id="10" name="Shape 8"/>
          <p:cNvSpPr/>
          <p:nvPr/>
        </p:nvSpPr>
        <p:spPr>
          <a:xfrm>
            <a:off x="8046720" y="1371600"/>
            <a:ext cx="3611880" cy="2331720"/>
          </a:xfrm>
          <a:prstGeom prst="roundRect">
            <a:avLst>
              <a:gd name="adj" fmla="val 4706"/>
            </a:avLst>
          </a:prstGeom>
          <a:solidFill>
            <a:srgbClr val="F1F5F9"/>
          </a:solidFill>
          <a:ln w="12700">
            <a:solidFill>
              <a:srgbClr val="CBD5E1"/>
            </a:solidFill>
            <a:prstDash val="solid"/>
          </a:ln>
        </p:spPr>
      </p:sp>
      <p:sp>
        <p:nvSpPr>
          <p:cNvPr id="11" name="Text 9"/>
          <p:cNvSpPr txBox="1"/>
          <p:nvPr/>
        </p:nvSpPr>
        <p:spPr>
          <a:xfrm>
            <a:off x="8321040" y="1554480"/>
            <a:ext cx="306324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Hard timeout</a:t>
            </a:r>
            <a:endParaRPr lang="en-US" sz="2000" dirty="0"/>
          </a:p>
        </p:txBody>
      </p:sp>
      <p:sp>
        <p:nvSpPr>
          <p:cNvPr id="12" name="Text 10"/>
          <p:cNvSpPr txBox="1"/>
          <p:nvPr/>
        </p:nvSpPr>
        <p:spPr>
          <a:xfrm>
            <a:off x="8321040" y="2057400"/>
            <a:ext cx="306324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CancelAfter 5 minutes, then Kill(entireProcessTree: true).</a:t>
            </a:r>
            <a:endParaRPr lang="en-US" sz="1500" dirty="0"/>
          </a:p>
        </p:txBody>
      </p:sp>
      <p:sp>
        <p:nvSpPr>
          <p:cNvPr id="13" name="Shape 11"/>
          <p:cNvSpPr/>
          <p:nvPr/>
        </p:nvSpPr>
        <p:spPr>
          <a:xfrm>
            <a:off x="548640" y="3886200"/>
            <a:ext cx="3611880" cy="2240280"/>
          </a:xfrm>
          <a:prstGeom prst="roundRect">
            <a:avLst>
              <a:gd name="adj" fmla="val 4898"/>
            </a:avLst>
          </a:prstGeom>
          <a:solidFill>
            <a:srgbClr val="F1F5F9"/>
          </a:solidFill>
          <a:ln w="12700">
            <a:solidFill>
              <a:srgbClr val="CBD5E1"/>
            </a:solidFill>
            <a:prstDash val="solid"/>
          </a:ln>
        </p:spPr>
      </p:sp>
      <p:sp>
        <p:nvSpPr>
          <p:cNvPr id="14" name="Text 12"/>
          <p:cNvSpPr txBox="1"/>
          <p:nvPr/>
        </p:nvSpPr>
        <p:spPr>
          <a:xfrm>
            <a:off x="822960" y="4069080"/>
            <a:ext cx="306324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Usage limits</a:t>
            </a:r>
            <a:endParaRPr lang="en-US" sz="2000" dirty="0"/>
          </a:p>
        </p:txBody>
      </p:sp>
      <p:sp>
        <p:nvSpPr>
          <p:cNvPr id="15" name="Text 13"/>
          <p:cNvSpPr txBox="1"/>
          <p:nvPr/>
        </p:nvSpPr>
        <p:spPr>
          <a:xfrm>
            <a:off x="822960" y="4572000"/>
            <a:ext cx="3063240" cy="13716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Matches usage limit, rate limit, quota, exceeded your. Reports a distinct failure reason.</a:t>
            </a:r>
            <a:endParaRPr lang="en-US" sz="1500" dirty="0"/>
          </a:p>
        </p:txBody>
      </p:sp>
      <p:sp>
        <p:nvSpPr>
          <p:cNvPr id="16" name="Shape 14"/>
          <p:cNvSpPr/>
          <p:nvPr/>
        </p:nvSpPr>
        <p:spPr>
          <a:xfrm>
            <a:off x="4297680" y="3886200"/>
            <a:ext cx="3611880" cy="2240280"/>
          </a:xfrm>
          <a:prstGeom prst="roundRect">
            <a:avLst>
              <a:gd name="adj" fmla="val 4898"/>
            </a:avLst>
          </a:prstGeom>
          <a:solidFill>
            <a:srgbClr val="F1F5F9"/>
          </a:solidFill>
          <a:ln w="12700">
            <a:solidFill>
              <a:srgbClr val="CBD5E1"/>
            </a:solidFill>
            <a:prstDash val="solid"/>
          </a:ln>
        </p:spPr>
      </p:sp>
      <p:sp>
        <p:nvSpPr>
          <p:cNvPr id="17" name="Text 15"/>
          <p:cNvSpPr txBox="1"/>
          <p:nvPr/>
        </p:nvSpPr>
        <p:spPr>
          <a:xfrm>
            <a:off x="4572000" y="4069080"/>
            <a:ext cx="306324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UTF-8 decoding</a:t>
            </a:r>
            <a:endParaRPr lang="en-US" sz="2000" dirty="0"/>
          </a:p>
        </p:txBody>
      </p:sp>
      <p:sp>
        <p:nvSpPr>
          <p:cNvPr id="18" name="Text 16"/>
          <p:cNvSpPr txBox="1"/>
          <p:nvPr/>
        </p:nvSpPr>
        <p:spPr>
          <a:xfrm>
            <a:off x="4572000" y="4572000"/>
            <a:ext cx="3063240" cy="13716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Stdin, stdout and stderr are set to UTF-8 explicitly. Windows defaults to the OEM codepage.</a:t>
            </a:r>
            <a:endParaRPr lang="en-US" sz="1500" dirty="0"/>
          </a:p>
        </p:txBody>
      </p:sp>
      <p:sp>
        <p:nvSpPr>
          <p:cNvPr id="19" name="Shape 17"/>
          <p:cNvSpPr/>
          <p:nvPr/>
        </p:nvSpPr>
        <p:spPr>
          <a:xfrm>
            <a:off x="8046720" y="3886200"/>
            <a:ext cx="3611880" cy="2240280"/>
          </a:xfrm>
          <a:prstGeom prst="roundRect">
            <a:avLst>
              <a:gd name="adj" fmla="val 4898"/>
            </a:avLst>
          </a:prstGeom>
          <a:solidFill>
            <a:srgbClr val="F1F5F9"/>
          </a:solidFill>
          <a:ln w="12700">
            <a:solidFill>
              <a:srgbClr val="CBD5E1"/>
            </a:solidFill>
            <a:prstDash val="solid"/>
          </a:ln>
        </p:spPr>
      </p:sp>
      <p:sp>
        <p:nvSpPr>
          <p:cNvPr id="20" name="Text 18"/>
          <p:cNvSpPr txBox="1"/>
          <p:nvPr/>
        </p:nvSpPr>
        <p:spPr>
          <a:xfrm>
            <a:off x="8321040" y="4069080"/>
            <a:ext cx="306324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Mock seam</a:t>
            </a:r>
            <a:endParaRPr lang="en-US" sz="2000" dirty="0"/>
          </a:p>
        </p:txBody>
      </p:sp>
      <p:sp>
        <p:nvSpPr>
          <p:cNvPr id="21" name="Text 19"/>
          <p:cNvSpPr txBox="1"/>
          <p:nvPr/>
        </p:nvSpPr>
        <p:spPr>
          <a:xfrm>
            <a:off x="8321040" y="4572000"/>
            <a:ext cx="3063240" cy="13716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PROMPTVCS_MOCK_CLAUDE=1 returns canned output to test the pipeline without spending usage.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Persistence and concurrency</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16</a:t>
            </a:r>
            <a:endParaRPr lang="en-US" sz="1000" dirty="0"/>
          </a:p>
        </p:txBody>
      </p:sp>
      <p:sp>
        <p:nvSpPr>
          <p:cNvPr id="4" name="Shape 2"/>
          <p:cNvSpPr/>
          <p:nvPr/>
        </p:nvSpPr>
        <p:spPr>
          <a:xfrm>
            <a:off x="548640" y="1371600"/>
            <a:ext cx="5394960" cy="2194560"/>
          </a:xfrm>
          <a:prstGeom prst="roundRect">
            <a:avLst>
              <a:gd name="adj" fmla="val 5000"/>
            </a:avLst>
          </a:prstGeom>
          <a:solidFill>
            <a:srgbClr val="F1F5F9"/>
          </a:solidFill>
          <a:ln w="12700">
            <a:solidFill>
              <a:srgbClr val="CBD5E1"/>
            </a:solidFill>
            <a:prstDash val="solid"/>
          </a:ln>
        </p:spPr>
      </p:sp>
      <p:sp>
        <p:nvSpPr>
          <p:cNvPr id="5" name="Text 3"/>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Store as one document</a:t>
            </a:r>
            <a:endParaRPr lang="en-US" sz="2000" dirty="0"/>
          </a:p>
        </p:txBody>
      </p:sp>
      <p:sp>
        <p:nvSpPr>
          <p:cNvPr id="6" name="Text 4"/>
          <p:cNvSpPr txBox="1"/>
          <p:nvPr/>
        </p:nvSpPr>
        <p:spPr>
          <a:xfrm>
            <a:off x="822960" y="2057400"/>
            <a:ext cx="4846320" cy="13258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The whole Store graph is serialized with System.Text.Json into one field on _id "singleton" in app_store.</a:t>
            </a:r>
            <a:endParaRPr lang="en-US" sz="1500" dirty="0"/>
          </a:p>
        </p:txBody>
      </p:sp>
      <p:sp>
        <p:nvSpPr>
          <p:cNvPr id="7" name="Shape 5"/>
          <p:cNvSpPr/>
          <p:nvPr/>
        </p:nvSpPr>
        <p:spPr>
          <a:xfrm>
            <a:off x="6263640" y="1371600"/>
            <a:ext cx="5394960" cy="2194560"/>
          </a:xfrm>
          <a:prstGeom prst="roundRect">
            <a:avLst>
              <a:gd name="adj" fmla="val 5000"/>
            </a:avLst>
          </a:prstGeom>
          <a:solidFill>
            <a:srgbClr val="F1F5F9"/>
          </a:solidFill>
          <a:ln w="12700">
            <a:solidFill>
              <a:srgbClr val="CBD5E1"/>
            </a:solidFill>
            <a:prstDash val="solid"/>
          </a:ln>
        </p:spPr>
      </p:sp>
      <p:sp>
        <p:nvSpPr>
          <p:cNvPr id="8" name="Text 6"/>
          <p:cNvSpPr txBox="1"/>
          <p:nvPr/>
        </p:nvSpPr>
        <p:spPr>
          <a:xfrm>
            <a:off x="6537960" y="155448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Concurrency model</a:t>
            </a:r>
            <a:endParaRPr lang="en-US" sz="2000" dirty="0"/>
          </a:p>
        </p:txBody>
      </p:sp>
      <p:sp>
        <p:nvSpPr>
          <p:cNvPr id="9" name="Text 7"/>
          <p:cNvSpPr txBox="1"/>
          <p:nvPr/>
        </p:nvSpPr>
        <p:spPr>
          <a:xfrm>
            <a:off x="6537960" y="2057400"/>
            <a:ext cx="4846320" cy="13258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One SemaphoreSlim(1,1), load once, cache in memory, save on every mutation. ReadAsync and MutateAsync wrap access.</a:t>
            </a:r>
            <a:endParaRPr lang="en-US" sz="1500" dirty="0"/>
          </a:p>
        </p:txBody>
      </p:sp>
      <p:sp>
        <p:nvSpPr>
          <p:cNvPr id="10" name="Shape 8"/>
          <p:cNvSpPr/>
          <p:nvPr/>
        </p:nvSpPr>
        <p:spPr>
          <a:xfrm>
            <a:off x="548640" y="3749040"/>
            <a:ext cx="5394960" cy="2377440"/>
          </a:xfrm>
          <a:prstGeom prst="roundRect">
            <a:avLst>
              <a:gd name="adj" fmla="val 4615"/>
            </a:avLst>
          </a:prstGeom>
          <a:solidFill>
            <a:srgbClr val="F1F5F9"/>
          </a:solidFill>
          <a:ln w="12700">
            <a:solidFill>
              <a:srgbClr val="CBD5E1"/>
            </a:solidFill>
            <a:prstDash val="solid"/>
          </a:ln>
        </p:spPr>
      </p:sp>
      <p:sp>
        <p:nvSpPr>
          <p:cNvPr id="11" name="Text 9"/>
          <p:cNvSpPr txBox="1"/>
          <p:nvPr/>
        </p:nvSpPr>
        <p:spPr>
          <a:xfrm>
            <a:off x="822960" y="393192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Auth collections</a:t>
            </a:r>
            <a:endParaRPr lang="en-US" sz="2000" dirty="0"/>
          </a:p>
        </p:txBody>
      </p:sp>
      <p:sp>
        <p:nvSpPr>
          <p:cNvPr id="12" name="Text 10"/>
          <p:cNvSpPr txBox="1"/>
          <p:nvPr/>
        </p:nvSpPr>
        <p:spPr>
          <a:xfrm>
            <a:off x="822960" y="4434840"/>
            <a:ext cx="4846320" cy="15087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users holds Username, PasswordHash and IsAdmin. sessions holds the token as _id, Username, IsAdmin and ExpiresAtUtc.</a:t>
            </a:r>
            <a:endParaRPr lang="en-US" sz="1500" dirty="0"/>
          </a:p>
        </p:txBody>
      </p:sp>
      <p:sp>
        <p:nvSpPr>
          <p:cNvPr id="13" name="Shape 11"/>
          <p:cNvSpPr/>
          <p:nvPr/>
        </p:nvSpPr>
        <p:spPr>
          <a:xfrm>
            <a:off x="6263640" y="3749040"/>
            <a:ext cx="5394960" cy="2377440"/>
          </a:xfrm>
          <a:prstGeom prst="roundRect">
            <a:avLst>
              <a:gd name="adj" fmla="val 4615"/>
            </a:avLst>
          </a:prstGeom>
          <a:solidFill>
            <a:srgbClr val="F1F5F9"/>
          </a:solidFill>
          <a:ln w="12700">
            <a:solidFill>
              <a:srgbClr val="CBD5E1"/>
            </a:solidFill>
            <a:prstDash val="solid"/>
          </a:ln>
        </p:spPr>
      </p:sp>
      <p:sp>
        <p:nvSpPr>
          <p:cNvPr id="14" name="Text 12"/>
          <p:cNvSpPr txBox="1"/>
          <p:nvPr/>
        </p:nvSpPr>
        <p:spPr>
          <a:xfrm>
            <a:off x="6537960" y="393192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Password format</a:t>
            </a:r>
            <a:endParaRPr lang="en-US" sz="2000" dirty="0"/>
          </a:p>
        </p:txBody>
      </p:sp>
      <p:sp>
        <p:nvSpPr>
          <p:cNvPr id="15" name="Text 13"/>
          <p:cNvSpPr txBox="1"/>
          <p:nvPr/>
        </p:nvSpPr>
        <p:spPr>
          <a:xfrm>
            <a:off x="6537960" y="4434840"/>
            <a:ext cx="4846320" cy="15087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PBKDF2 via Rfc2898DeriveBytes.Pbkdf2, 100,000 iterations of SHA-256, stored as iterations.salt.hash in base64.</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Browser terminal bridge</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17</a:t>
            </a:r>
            <a:endParaRPr lang="en-US" sz="1000" dirty="0"/>
          </a:p>
        </p:txBody>
      </p:sp>
      <p:sp>
        <p:nvSpPr>
          <p:cNvPr id="4" name="Shape 2"/>
          <p:cNvSpPr/>
          <p:nvPr/>
        </p:nvSpPr>
        <p:spPr>
          <a:xfrm>
            <a:off x="548640" y="1371600"/>
            <a:ext cx="5303520" cy="4754880"/>
          </a:xfrm>
          <a:prstGeom prst="roundRect">
            <a:avLst>
              <a:gd name="adj" fmla="val 1923"/>
            </a:avLst>
          </a:prstGeom>
          <a:solidFill>
            <a:srgbClr val="0B2545"/>
          </a:solidFill>
          <a:ln w="12700">
            <a:solidFill>
              <a:srgbClr val="0B2545"/>
            </a:solidFill>
            <a:prstDash val="solid"/>
          </a:ln>
        </p:spPr>
      </p:sp>
      <p:sp>
        <p:nvSpPr>
          <p:cNvPr id="5" name="Text 3"/>
          <p:cNvSpPr txBox="1"/>
          <p:nvPr/>
        </p:nvSpPr>
        <p:spPr>
          <a:xfrm>
            <a:off x="777240" y="1554480"/>
            <a:ext cx="4846320" cy="4389120"/>
          </a:xfrm>
          <a:prstGeom prst="rect">
            <a:avLst/>
          </a:prstGeom>
          <a:noFill/>
          <a:ln/>
        </p:spPr>
        <p:txBody>
          <a:bodyPr wrap="square" lIns="0" tIns="0" rIns="0" bIns="0" rtlCol="0" anchor="t"/>
          <a:lstStyle/>
          <a:p>
            <a:pPr indent="0" marL="0">
              <a:buNone/>
            </a:pPr>
            <a:r>
              <a:rPr lang="en-US" sz="1300" dirty="0">
                <a:solidFill>
                  <a:srgbClr val="CBD5E1"/>
                </a:solidFill>
                <a:latin typeface="Courier New" pitchFamily="34" charset="0"/>
                <a:ea typeface="Courier New" pitchFamily="34" charset="-122"/>
                <a:cs typeface="Courier New" pitchFamily="34" charset="-120"/>
              </a:rPr>
              <a:t>Browser (xterm.js)</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  WebSocket /terminal-ws</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v</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TerminalSessionManager</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spawn: dotnet /app/cli/prompt-vcs.dll</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env: PROMPTVCS_SESSION_PATH=&lt;temp&gt;</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stdin/stdout piped to the socket</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   v  MCP over localhost</a:t>
            </a:r>
            <a:endParaRPr lang="en-US" sz="1300" dirty="0"/>
          </a:p>
          <a:p>
            <a:pPr indent="0" marL="0">
              <a:buNone/>
            </a:pPr>
            <a:r>
              <a:rPr lang="en-US" sz="1300" dirty="0">
                <a:solidFill>
                  <a:srgbClr val="CBD5E1"/>
                </a:solidFill>
                <a:latin typeface="Courier New" pitchFamily="34" charset="0"/>
                <a:ea typeface="Courier New" pitchFamily="34" charset="-122"/>
                <a:cs typeface="Courier New" pitchFamily="34" charset="-120"/>
              </a:rPr>
              <a:t>MCP server (same container)</a:t>
            </a:r>
            <a:endParaRPr lang="en-US" sz="1300" dirty="0"/>
          </a:p>
        </p:txBody>
      </p:sp>
      <p:sp>
        <p:nvSpPr>
          <p:cNvPr id="6" name="Text 4"/>
          <p:cNvSpPr txBox="1"/>
          <p:nvPr/>
        </p:nvSpPr>
        <p:spPr>
          <a:xfrm>
            <a:off x="6217920" y="1371600"/>
            <a:ext cx="5394960" cy="4754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A semaphore caps live sessions at 3, and idle sessions close after 10 minutes.</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Each session gets its own session-cache file, so logins cannot leak between tabs. The file is deleted when the session ends.</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The login form types login or register into the CLI for the user and watches the output for Logged in as or Error.</a:t>
            </a:r>
            <a:endParaRPr lang="en-US" sz="1500" dirty="0"/>
          </a:p>
          <a:p>
            <a:pPr marL="342900" indent="-342900">
              <a:spcAft>
                <a:spcPts val="800"/>
              </a:spcAft>
              <a:buSzPct val="100000"/>
              <a:buChar char="•"/>
            </a:pPr>
            <a:r>
              <a:rPr lang="en-US" sz="1500" dirty="0">
                <a:solidFill>
                  <a:srgbClr val="334155"/>
                </a:solidFill>
                <a:latin typeface="Calibri" pitchFamily="34" charset="0"/>
                <a:ea typeface="Calibri" pitchFamily="34" charset="-122"/>
                <a:cs typeface="Calibri" pitchFamily="34" charset="-120"/>
              </a:rPr>
              <a:t>Output uses raw ANSI escapes and CRLF line endings, because a piped process gets no TTY translation.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Solution components</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5486400"/>
                <a:gridCol w="3383280"/>
              </a:tblGrid>
              <a:tr h="6400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Project</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Technology</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B2545"/>
                    </a:solidFill>
                  </a:tcPr>
                </a:tc>
              </a:tr>
              <a:tr h="640080">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mcp-server</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Store, pipeline, QA, publish rules, auth, SignalR hub, /terminal bridge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ASP.NET Core, MCP over HTTP, MongoDB</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640080">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PromptVcs.Core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Shared domain logic: pipeline, QA, publish rules, sanitizer</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 DiffPlex</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PromptVcs.Runner</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Receives jobs, runs headless Claude 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 console, SignalR client</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640080">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PromptVcs.Cli</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Thin client: create, edit, list, show, diff, reset</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 MCP client</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PromptVcs.Web</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Landing page, auth, dashboard, prompt detail, diff</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Razor Pages, Tailwind</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Authentication and security</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19</a:t>
            </a:r>
            <a:endParaRPr lang="en-US" sz="1000" dirty="0"/>
          </a:p>
        </p:txBody>
      </p:sp>
      <p:sp>
        <p:nvSpPr>
          <p:cNvPr id="4" name="Shape 2"/>
          <p:cNvSpPr/>
          <p:nvPr/>
        </p:nvSpPr>
        <p:spPr>
          <a:xfrm>
            <a:off x="548640" y="1463040"/>
            <a:ext cx="5349240" cy="2103120"/>
          </a:xfrm>
          <a:prstGeom prst="roundRect">
            <a:avLst>
              <a:gd name="adj" fmla="val 5217"/>
            </a:avLst>
          </a:prstGeom>
          <a:solidFill>
            <a:srgbClr val="F1F5F9"/>
          </a:solidFill>
          <a:ln w="12700">
            <a:solidFill>
              <a:srgbClr val="CBD5E1"/>
            </a:solidFill>
            <a:prstDash val="solid"/>
          </a:ln>
        </p:spPr>
      </p:sp>
      <p:sp>
        <p:nvSpPr>
          <p:cNvPr id="5" name="Text 3"/>
          <p:cNvSpPr txBox="1"/>
          <p:nvPr/>
        </p:nvSpPr>
        <p:spPr>
          <a:xfrm>
            <a:off x="822960" y="164592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Accounts</a:t>
            </a:r>
            <a:endParaRPr lang="en-US" sz="2000" dirty="0"/>
          </a:p>
        </p:txBody>
      </p:sp>
      <p:sp>
        <p:nvSpPr>
          <p:cNvPr id="6" name="Text 4"/>
          <p:cNvSpPr txBox="1"/>
          <p:nvPr/>
        </p:nvSpPr>
        <p:spPr>
          <a:xfrm>
            <a:off x="822960" y="214884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MongoDB users with PBKDF2 (SHA-256, 100k iterations) password hashing. The first user becomes admin.</a:t>
            </a:r>
            <a:endParaRPr lang="en-US" sz="1500" dirty="0"/>
          </a:p>
        </p:txBody>
      </p:sp>
      <p:sp>
        <p:nvSpPr>
          <p:cNvPr id="7" name="Shape 5"/>
          <p:cNvSpPr/>
          <p:nvPr/>
        </p:nvSpPr>
        <p:spPr>
          <a:xfrm>
            <a:off x="6263640" y="1463040"/>
            <a:ext cx="5349240" cy="2103120"/>
          </a:xfrm>
          <a:prstGeom prst="roundRect">
            <a:avLst>
              <a:gd name="adj" fmla="val 5217"/>
            </a:avLst>
          </a:prstGeom>
          <a:solidFill>
            <a:srgbClr val="F1F5F9"/>
          </a:solidFill>
          <a:ln w="12700">
            <a:solidFill>
              <a:srgbClr val="CBD5E1"/>
            </a:solidFill>
            <a:prstDash val="solid"/>
          </a:ln>
        </p:spPr>
      </p:sp>
      <p:sp>
        <p:nvSpPr>
          <p:cNvPr id="8" name="Text 6"/>
          <p:cNvSpPr txBox="1"/>
          <p:nvPr/>
        </p:nvSpPr>
        <p:spPr>
          <a:xfrm>
            <a:off x="6537960" y="164592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Sessions</a:t>
            </a:r>
            <a:endParaRPr lang="en-US" sz="2000" dirty="0"/>
          </a:p>
        </p:txBody>
      </p:sp>
      <p:sp>
        <p:nvSpPr>
          <p:cNvPr id="9" name="Text 7"/>
          <p:cNvSpPr txBox="1"/>
          <p:nvPr/>
        </p:nvSpPr>
        <p:spPr>
          <a:xfrm>
            <a:off x="6537960" y="214884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Random 32-byte tokens stored server-side, valid for 30 days. Logout is one delete.</a:t>
            </a:r>
            <a:endParaRPr lang="en-US" sz="1500" dirty="0"/>
          </a:p>
        </p:txBody>
      </p:sp>
      <p:sp>
        <p:nvSpPr>
          <p:cNvPr id="10" name="Shape 8"/>
          <p:cNvSpPr/>
          <p:nvPr/>
        </p:nvSpPr>
        <p:spPr>
          <a:xfrm>
            <a:off x="548640" y="3794760"/>
            <a:ext cx="5349240" cy="2103120"/>
          </a:xfrm>
          <a:prstGeom prst="roundRect">
            <a:avLst>
              <a:gd name="adj" fmla="val 5217"/>
            </a:avLst>
          </a:prstGeom>
          <a:solidFill>
            <a:srgbClr val="F1F5F9"/>
          </a:solidFill>
          <a:ln w="12700">
            <a:solidFill>
              <a:srgbClr val="CBD5E1"/>
            </a:solidFill>
            <a:prstDash val="solid"/>
          </a:ln>
        </p:spPr>
      </p:sp>
      <p:sp>
        <p:nvSpPr>
          <p:cNvPr id="11" name="Text 9"/>
          <p:cNvSpPr txBox="1"/>
          <p:nvPr/>
        </p:nvSpPr>
        <p:spPr>
          <a:xfrm>
            <a:off x="822960" y="397764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Per-tool checks</a:t>
            </a:r>
            <a:endParaRPr lang="en-US" sz="2000" dirty="0"/>
          </a:p>
        </p:txBody>
      </p:sp>
      <p:sp>
        <p:nvSpPr>
          <p:cNvPr id="12" name="Text 10"/>
          <p:cNvSpPr txBox="1"/>
          <p:nvPr/>
        </p:nvSpPr>
        <p:spPr>
          <a:xfrm>
            <a:off x="822960" y="448056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Every MCP tool validates the session. Reset is admin-only.</a:t>
            </a:r>
            <a:endParaRPr lang="en-US" sz="1500" dirty="0"/>
          </a:p>
        </p:txBody>
      </p:sp>
      <p:sp>
        <p:nvSpPr>
          <p:cNvPr id="13" name="Shape 11"/>
          <p:cNvSpPr/>
          <p:nvPr/>
        </p:nvSpPr>
        <p:spPr>
          <a:xfrm>
            <a:off x="6263640" y="3794760"/>
            <a:ext cx="5349240" cy="2103120"/>
          </a:xfrm>
          <a:prstGeom prst="roundRect">
            <a:avLst>
              <a:gd name="adj" fmla="val 5217"/>
            </a:avLst>
          </a:prstGeom>
          <a:solidFill>
            <a:srgbClr val="F1F5F9"/>
          </a:solidFill>
          <a:ln w="12700">
            <a:solidFill>
              <a:srgbClr val="CBD5E1"/>
            </a:solidFill>
            <a:prstDash val="solid"/>
          </a:ln>
        </p:spPr>
      </p:sp>
      <p:sp>
        <p:nvSpPr>
          <p:cNvPr id="14" name="Text 12"/>
          <p:cNvSpPr txBox="1"/>
          <p:nvPr/>
        </p:nvSpPr>
        <p:spPr>
          <a:xfrm>
            <a:off x="6537960" y="397764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Runner trust</a:t>
            </a:r>
            <a:endParaRPr lang="en-US" sz="2000" dirty="0"/>
          </a:p>
        </p:txBody>
      </p:sp>
      <p:sp>
        <p:nvSpPr>
          <p:cNvPr id="15" name="Text 13"/>
          <p:cNvSpPr txBox="1"/>
          <p:nvPr/>
        </p:nvSpPr>
        <p:spPr>
          <a:xfrm>
            <a:off x="6537960" y="448056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 shared secret authenticates the Runner's SignalR connection.</a:t>
            </a:r>
            <a:endParaRPr lang="en-US" sz="1500" dirty="0"/>
          </a:p>
        </p:txBody>
      </p:sp>
      <p:sp>
        <p:nvSpPr>
          <p:cNvPr id="16" name="Text 14"/>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No third-party hashing or JWT libraries. Each browser terminal session gets an isolated session cache.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Engineering challenges solved</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20</a:t>
            </a:r>
            <a:endParaRPr lang="en-US" sz="1000" dirty="0"/>
          </a:p>
        </p:txBody>
      </p:sp>
      <p:sp>
        <p:nvSpPr>
          <p:cNvPr id="4" name="Shape 2"/>
          <p:cNvSpPr/>
          <p:nvPr/>
        </p:nvSpPr>
        <p:spPr>
          <a:xfrm>
            <a:off x="548640" y="1463040"/>
            <a:ext cx="5349240" cy="2103120"/>
          </a:xfrm>
          <a:prstGeom prst="roundRect">
            <a:avLst>
              <a:gd name="adj" fmla="val 5217"/>
            </a:avLst>
          </a:prstGeom>
          <a:solidFill>
            <a:srgbClr val="F1F5F9"/>
          </a:solidFill>
          <a:ln w="12700">
            <a:solidFill>
              <a:srgbClr val="CBD5E1"/>
            </a:solidFill>
            <a:prstDash val="solid"/>
          </a:ln>
        </p:spPr>
      </p:sp>
      <p:sp>
        <p:nvSpPr>
          <p:cNvPr id="5" name="Text 3"/>
          <p:cNvSpPr txBox="1"/>
          <p:nvPr/>
        </p:nvSpPr>
        <p:spPr>
          <a:xfrm>
            <a:off x="822960" y="164592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Latency</a:t>
            </a:r>
            <a:endParaRPr lang="en-US" sz="2000" dirty="0"/>
          </a:p>
        </p:txBody>
      </p:sp>
      <p:sp>
        <p:nvSpPr>
          <p:cNvPr id="6" name="Text 4"/>
          <p:cNvSpPr txBox="1"/>
          <p:nvPr/>
        </p:nvSpPr>
        <p:spPr>
          <a:xfrm>
            <a:off x="822960" y="214884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Three sequential Claude Code calls cut to two for edits and to one for first-run creates.</a:t>
            </a:r>
            <a:endParaRPr lang="en-US" sz="1500" dirty="0"/>
          </a:p>
        </p:txBody>
      </p:sp>
      <p:sp>
        <p:nvSpPr>
          <p:cNvPr id="7" name="Shape 5"/>
          <p:cNvSpPr/>
          <p:nvPr/>
        </p:nvSpPr>
        <p:spPr>
          <a:xfrm>
            <a:off x="6263640" y="1463040"/>
            <a:ext cx="5349240" cy="2103120"/>
          </a:xfrm>
          <a:prstGeom prst="roundRect">
            <a:avLst>
              <a:gd name="adj" fmla="val 5217"/>
            </a:avLst>
          </a:prstGeom>
          <a:solidFill>
            <a:srgbClr val="F1F5F9"/>
          </a:solidFill>
          <a:ln w="12700">
            <a:solidFill>
              <a:srgbClr val="CBD5E1"/>
            </a:solidFill>
            <a:prstDash val="solid"/>
          </a:ln>
        </p:spPr>
      </p:sp>
      <p:sp>
        <p:nvSpPr>
          <p:cNvPr id="8" name="Text 6"/>
          <p:cNvSpPr txBox="1"/>
          <p:nvPr/>
        </p:nvSpPr>
        <p:spPr>
          <a:xfrm>
            <a:off x="6537960" y="164592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Deployment</a:t>
            </a:r>
            <a:endParaRPr lang="en-US" sz="2000" dirty="0"/>
          </a:p>
        </p:txBody>
      </p:sp>
      <p:sp>
        <p:nvSpPr>
          <p:cNvPr id="9" name="Text 7"/>
          <p:cNvSpPr txBox="1"/>
          <p:nvPr/>
        </p:nvSpPr>
        <p:spPr>
          <a:xfrm>
            <a:off x="6537960" y="214884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Kestrel bound to 0.0.0.0 and the Render PORT variable. File-watcher limit hit in containers.</a:t>
            </a:r>
            <a:endParaRPr lang="en-US" sz="1500" dirty="0"/>
          </a:p>
        </p:txBody>
      </p:sp>
      <p:sp>
        <p:nvSpPr>
          <p:cNvPr id="10" name="Shape 8"/>
          <p:cNvSpPr/>
          <p:nvPr/>
        </p:nvSpPr>
        <p:spPr>
          <a:xfrm>
            <a:off x="548640" y="3794760"/>
            <a:ext cx="5349240" cy="2103120"/>
          </a:xfrm>
          <a:prstGeom prst="roundRect">
            <a:avLst>
              <a:gd name="adj" fmla="val 5217"/>
            </a:avLst>
          </a:prstGeom>
          <a:solidFill>
            <a:srgbClr val="F1F5F9"/>
          </a:solidFill>
          <a:ln w="12700">
            <a:solidFill>
              <a:srgbClr val="CBD5E1"/>
            </a:solidFill>
            <a:prstDash val="solid"/>
          </a:ln>
        </p:spPr>
      </p:sp>
      <p:sp>
        <p:nvSpPr>
          <p:cNvPr id="11" name="Text 9"/>
          <p:cNvSpPr txBox="1"/>
          <p:nvPr/>
        </p:nvSpPr>
        <p:spPr>
          <a:xfrm>
            <a:off x="822960" y="397764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Encoding</a:t>
            </a:r>
            <a:endParaRPr lang="en-US" sz="2000" dirty="0"/>
          </a:p>
        </p:txBody>
      </p:sp>
      <p:sp>
        <p:nvSpPr>
          <p:cNvPr id="12" name="Text 10"/>
          <p:cNvSpPr txBox="1"/>
          <p:nvPr/>
        </p:nvSpPr>
        <p:spPr>
          <a:xfrm>
            <a:off x="822960" y="448056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Mojibake traced to Windows stdout decoding, fixed by forcing UTF-8 on the subprocess.</a:t>
            </a:r>
            <a:endParaRPr lang="en-US" sz="1500" dirty="0"/>
          </a:p>
        </p:txBody>
      </p:sp>
      <p:sp>
        <p:nvSpPr>
          <p:cNvPr id="13" name="Shape 11"/>
          <p:cNvSpPr/>
          <p:nvPr/>
        </p:nvSpPr>
        <p:spPr>
          <a:xfrm>
            <a:off x="6263640" y="3794760"/>
            <a:ext cx="5349240" cy="2103120"/>
          </a:xfrm>
          <a:prstGeom prst="roundRect">
            <a:avLst>
              <a:gd name="adj" fmla="val 5217"/>
            </a:avLst>
          </a:prstGeom>
          <a:solidFill>
            <a:srgbClr val="F1F5F9"/>
          </a:solidFill>
          <a:ln w="12700">
            <a:solidFill>
              <a:srgbClr val="CBD5E1"/>
            </a:solidFill>
            <a:prstDash val="solid"/>
          </a:ln>
        </p:spPr>
      </p:sp>
      <p:sp>
        <p:nvSpPr>
          <p:cNvPr id="14" name="Text 12"/>
          <p:cNvSpPr txBox="1"/>
          <p:nvPr/>
        </p:nvSpPr>
        <p:spPr>
          <a:xfrm>
            <a:off x="6537960" y="3977640"/>
            <a:ext cx="480060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Terminal output</a:t>
            </a:r>
            <a:endParaRPr lang="en-US" sz="2000" dirty="0"/>
          </a:p>
        </p:txBody>
      </p:sp>
      <p:sp>
        <p:nvSpPr>
          <p:cNvPr id="15" name="Text 13"/>
          <p:cNvSpPr txBox="1"/>
          <p:nvPr/>
        </p:nvSpPr>
        <p:spPr>
          <a:xfrm>
            <a:off x="6537960" y="4480560"/>
            <a:ext cx="480060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ANSI color codes and CRLF newlines for xterm.js over a piped process.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0B2545"/>
                </a:solidFill>
                <a:latin typeface="Cambria" pitchFamily="34" charset="0"/>
                <a:ea typeface="Cambria" pitchFamily="34" charset="-122"/>
                <a:cs typeface="Cambria" pitchFamily="34" charset="-120"/>
              </a:rPr>
              <a:t>What has been built and verified</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PromptVCS  |  21</a:t>
            </a:r>
            <a:endParaRPr lang="en-US" sz="1000" dirty="0"/>
          </a:p>
        </p:txBody>
      </p:sp>
      <p:sp>
        <p:nvSpPr>
          <p:cNvPr id="4" name="Shape 2"/>
          <p:cNvSpPr/>
          <p:nvPr/>
        </p:nvSpPr>
        <p:spPr>
          <a:xfrm>
            <a:off x="548640" y="1463040"/>
            <a:ext cx="5394960" cy="2103120"/>
          </a:xfrm>
          <a:prstGeom prst="roundRect">
            <a:avLst>
              <a:gd name="adj" fmla="val 5217"/>
            </a:avLst>
          </a:prstGeom>
          <a:solidFill>
            <a:srgbClr val="F1F5F9"/>
          </a:solidFill>
          <a:ln w="12700">
            <a:solidFill>
              <a:srgbClr val="CBD5E1"/>
            </a:solidFill>
            <a:prstDash val="solid"/>
          </a:ln>
        </p:spPr>
      </p:sp>
      <p:sp>
        <p:nvSpPr>
          <p:cNvPr id="5" name="Text 3"/>
          <p:cNvSpPr txBox="1"/>
          <p:nvPr/>
        </p:nvSpPr>
        <p:spPr>
          <a:xfrm>
            <a:off x="822960" y="164592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Backend</a:t>
            </a:r>
            <a:endParaRPr lang="en-US" sz="2000" dirty="0"/>
          </a:p>
        </p:txBody>
      </p:sp>
      <p:sp>
        <p:nvSpPr>
          <p:cNvPr id="6" name="Text 4"/>
          <p:cNvSpPr txBox="1"/>
          <p:nvPr/>
        </p:nvSpPr>
        <p:spPr>
          <a:xfrm>
            <a:off x="822960" y="2148840"/>
            <a:ext cx="484632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MCP server deployed with Docker. MongoDB holds the store, users and sessions. SignalR hub dispatches jobs to the Runner.</a:t>
            </a:r>
            <a:endParaRPr lang="en-US" sz="1500" dirty="0"/>
          </a:p>
        </p:txBody>
      </p:sp>
      <p:sp>
        <p:nvSpPr>
          <p:cNvPr id="7" name="Shape 5"/>
          <p:cNvSpPr/>
          <p:nvPr/>
        </p:nvSpPr>
        <p:spPr>
          <a:xfrm>
            <a:off x="6263640" y="1463040"/>
            <a:ext cx="5394960" cy="2103120"/>
          </a:xfrm>
          <a:prstGeom prst="roundRect">
            <a:avLst>
              <a:gd name="adj" fmla="val 5217"/>
            </a:avLst>
          </a:prstGeom>
          <a:solidFill>
            <a:srgbClr val="F1F5F9"/>
          </a:solidFill>
          <a:ln w="12700">
            <a:solidFill>
              <a:srgbClr val="CBD5E1"/>
            </a:solidFill>
            <a:prstDash val="solid"/>
          </a:ln>
        </p:spPr>
      </p:sp>
      <p:sp>
        <p:nvSpPr>
          <p:cNvPr id="8" name="Text 6"/>
          <p:cNvSpPr txBox="1"/>
          <p:nvPr/>
        </p:nvSpPr>
        <p:spPr>
          <a:xfrm>
            <a:off x="6537960" y="164592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Clients</a:t>
            </a:r>
            <a:endParaRPr lang="en-US" sz="2000" dirty="0"/>
          </a:p>
        </p:txBody>
      </p:sp>
      <p:sp>
        <p:nvSpPr>
          <p:cNvPr id="9" name="Text 7"/>
          <p:cNvSpPr txBox="1"/>
          <p:nvPr/>
        </p:nvSpPr>
        <p:spPr>
          <a:xfrm>
            <a:off x="6537960" y="2148840"/>
            <a:ext cx="484632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CLI (prompt-vcs) with an interactive REPL, a browser terminal at /terminal, and a web app with login, dashboard and prompt pages.</a:t>
            </a:r>
            <a:endParaRPr lang="en-US" sz="1500" dirty="0"/>
          </a:p>
        </p:txBody>
      </p:sp>
      <p:sp>
        <p:nvSpPr>
          <p:cNvPr id="10" name="Shape 8"/>
          <p:cNvSpPr/>
          <p:nvPr/>
        </p:nvSpPr>
        <p:spPr>
          <a:xfrm>
            <a:off x="548640" y="3840480"/>
            <a:ext cx="5394960" cy="2103120"/>
          </a:xfrm>
          <a:prstGeom prst="roundRect">
            <a:avLst>
              <a:gd name="adj" fmla="val 5217"/>
            </a:avLst>
          </a:prstGeom>
          <a:solidFill>
            <a:srgbClr val="F1F5F9"/>
          </a:solidFill>
          <a:ln w="12700">
            <a:solidFill>
              <a:srgbClr val="CBD5E1"/>
            </a:solidFill>
            <a:prstDash val="solid"/>
          </a:ln>
        </p:spPr>
      </p:sp>
      <p:sp>
        <p:nvSpPr>
          <p:cNvPr id="11" name="Text 9"/>
          <p:cNvSpPr txBox="1"/>
          <p:nvPr/>
        </p:nvSpPr>
        <p:spPr>
          <a:xfrm>
            <a:off x="822960" y="4023360"/>
            <a:ext cx="4846320" cy="45720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Pipeline</a:t>
            </a:r>
            <a:endParaRPr lang="en-US" sz="2000" dirty="0"/>
          </a:p>
        </p:txBody>
      </p:sp>
      <p:sp>
        <p:nvSpPr>
          <p:cNvPr id="12" name="Text 10"/>
          <p:cNvSpPr txBox="1"/>
          <p:nvPr/>
        </p:nvSpPr>
        <p:spPr>
          <a:xfrm>
            <a:off x="822960" y="4526280"/>
            <a:ext cx="484632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Validation, content safety, feasibility and checkpoint on every submit. Versioned artifacts at /site/{id}/v{n}/.</a:t>
            </a:r>
            <a:endParaRPr lang="en-US" sz="1500" dirty="0"/>
          </a:p>
        </p:txBody>
      </p:sp>
      <p:sp>
        <p:nvSpPr>
          <p:cNvPr id="13" name="Shape 11"/>
          <p:cNvSpPr/>
          <p:nvPr/>
        </p:nvSpPr>
        <p:spPr>
          <a:xfrm>
            <a:off x="6263640" y="3840480"/>
            <a:ext cx="5394960" cy="2103120"/>
          </a:xfrm>
          <a:prstGeom prst="roundRect">
            <a:avLst>
              <a:gd name="adj" fmla="val 5217"/>
            </a:avLst>
          </a:prstGeom>
          <a:solidFill>
            <a:srgbClr val="0B2545"/>
          </a:solidFill>
          <a:ln w="12700">
            <a:solidFill>
              <a:srgbClr val="CBD5E1"/>
            </a:solidFill>
            <a:prstDash val="solid"/>
          </a:ln>
        </p:spPr>
      </p:sp>
      <p:sp>
        <p:nvSpPr>
          <p:cNvPr id="14" name="Text 12"/>
          <p:cNvSpPr txBox="1"/>
          <p:nvPr/>
        </p:nvSpPr>
        <p:spPr>
          <a:xfrm>
            <a:off x="6537960" y="4023360"/>
            <a:ext cx="48463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Verified end to end</a:t>
            </a:r>
            <a:endParaRPr lang="en-US" sz="2000" dirty="0"/>
          </a:p>
        </p:txBody>
      </p:sp>
      <p:sp>
        <p:nvSpPr>
          <p:cNvPr id="15" name="Text 13"/>
          <p:cNvSpPr txBox="1"/>
          <p:nvPr/>
        </p:nvSpPr>
        <p:spPr>
          <a:xfrm>
            <a:off x="6537960" y="4526280"/>
            <a:ext cx="4846320" cy="1234440"/>
          </a:xfrm>
          <a:prstGeom prst="rect">
            <a:avLst/>
          </a:prstGeom>
          <a:noFill/>
          <a:ln/>
        </p:spPr>
        <p:txBody>
          <a:bodyPr wrap="square" lIns="0" tIns="0" rIns="0" bIns="0" rtlCol="0" anchor="t"/>
          <a:lstStyle/>
          <a:p>
            <a:pPr indent="0" marL="0">
              <a:buNone/>
            </a:pPr>
            <a:r>
              <a:rPr lang="en-US" sz="1500" dirty="0">
                <a:solidFill>
                  <a:srgbClr val="DBEAFE"/>
                </a:solidFill>
                <a:latin typeface="Calibri" pitchFamily="34" charset="0"/>
                <a:ea typeface="Calibri" pitchFamily="34" charset="-122"/>
                <a:cs typeface="Calibri" pitchFamily="34" charset="-120"/>
              </a:rPr>
              <a:t>Register, login, create, edit (v1 → v2 diff), publish with a working artifact link, logout, and clean failure when no Runner is connected.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595360" y="0"/>
            <a:ext cx="3593592" cy="6858000"/>
          </a:xfrm>
          <a:prstGeom prst="rect">
            <a:avLst/>
          </a:prstGeom>
          <a:solidFill>
            <a:srgbClr val="13315C"/>
          </a:solidFill>
          <a:ln w="12700">
            <a:solidFill>
              <a:srgbClr val="13315C"/>
            </a:solidFill>
            <a:prstDash val="solid"/>
          </a:ln>
        </p:spPr>
      </p:sp>
      <p:sp>
        <p:nvSpPr>
          <p:cNvPr id="3" name="Text 1"/>
          <p:cNvSpPr txBox="1"/>
          <p:nvPr/>
        </p:nvSpPr>
        <p:spPr>
          <a:xfrm>
            <a:off x="731520" y="2194560"/>
            <a:ext cx="105156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4" name="Text 2"/>
          <p:cNvSpPr txBox="1"/>
          <p:nvPr/>
        </p:nvSpPr>
        <p:spPr>
          <a:xfrm>
            <a:off x="731520" y="3474720"/>
            <a:ext cx="10515600" cy="731520"/>
          </a:xfrm>
          <a:prstGeom prst="rect">
            <a:avLst/>
          </a:prstGeom>
          <a:noFill/>
          <a:ln/>
        </p:spPr>
        <p:txBody>
          <a:bodyPr wrap="square" lIns="0" tIns="0" rIns="0" bIns="0" rtlCol="0" anchor="ctr"/>
          <a:lstStyle/>
          <a:p>
            <a:pPr indent="0" marL="0">
              <a:buNone/>
            </a:pPr>
            <a:r>
              <a:rPr lang="en-US" sz="2800" dirty="0">
                <a:solidFill>
                  <a:srgbClr val="93C5FD"/>
                </a:solidFill>
                <a:latin typeface="Calibri" pitchFamily="34" charset="0"/>
                <a:ea typeface="Calibri" pitchFamily="34" charset="-122"/>
                <a:cs typeface="Calibri" pitchFamily="34" charset="-120"/>
              </a:rPr>
              <a:t>Questions?</a:t>
            </a:r>
            <a:endParaRPr lang="en-US" sz="2800" dirty="0"/>
          </a:p>
        </p:txBody>
      </p:sp>
      <p:sp>
        <p:nvSpPr>
          <p:cNvPr id="5" name="Text 3"/>
          <p:cNvSpPr txBox="1"/>
          <p:nvPr/>
        </p:nvSpPr>
        <p:spPr>
          <a:xfrm>
            <a:off x="731520" y="4754880"/>
            <a:ext cx="10515600" cy="45720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github.com/SahilHanda300/prompt-vcs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PromptVCS</dc:title>
  <dc:subject>PptxGenJS Presentation</dc:subject>
  <dc:creator>Sahil Handa</dc:creator>
  <cp:lastModifiedBy>Sahil Handa</cp:lastModifiedBy>
  <cp:revision>1</cp:revision>
  <dcterms:created xsi:type="dcterms:W3CDTF">2026-10-02T19:25:38Z</dcterms:created>
  <dcterms:modified xsi:type="dcterms:W3CDTF">2026-10-02T19:25:38Z</dcterms:modified>
</cp:coreProperties>
</file>